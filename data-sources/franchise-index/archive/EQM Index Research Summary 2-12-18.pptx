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648" r:id="rId1"/>
  </p:sldMasterIdLst>
  <p:notesMasterIdLst>
    <p:notesMasterId r:id="rId12"/>
  </p:notesMasterIdLst>
  <p:handoutMasterIdLst>
    <p:handoutMasterId r:id="rId13"/>
  </p:handoutMasterIdLst>
  <p:sldIdLst>
    <p:sldId id="256" r:id="rId2"/>
    <p:sldId id="413" r:id="rId3"/>
    <p:sldId id="414" r:id="rId4"/>
    <p:sldId id="416" r:id="rId5"/>
    <p:sldId id="415" r:id="rId6"/>
    <p:sldId id="417" r:id="rId7"/>
    <p:sldId id="419" r:id="rId8"/>
    <p:sldId id="418" r:id="rId9"/>
    <p:sldId id="421" r:id="rId10"/>
    <p:sldId id="420" r:id="rId11"/>
  </p:sldIdLst>
  <p:sldSz cx="10058400" cy="7772400"/>
  <p:notesSz cx="7077075" cy="9363075"/>
  <p:custDataLst>
    <p:tags r:id="rId14"/>
  </p:custDataLst>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508000" indent="-50800" algn="l" rtl="0" fontAlgn="base">
      <a:spcBef>
        <a:spcPct val="0"/>
      </a:spcBef>
      <a:spcAft>
        <a:spcPct val="0"/>
      </a:spcAft>
      <a:defRPr kern="1200">
        <a:solidFill>
          <a:schemeClr val="tx1"/>
        </a:solidFill>
        <a:latin typeface="Arial" charset="0"/>
        <a:ea typeface="+mn-ea"/>
        <a:cs typeface="Arial" charset="0"/>
      </a:defRPr>
    </a:lvl2pPr>
    <a:lvl3pPr marL="1017588" indent="-103188" algn="l" rtl="0" fontAlgn="base">
      <a:spcBef>
        <a:spcPct val="0"/>
      </a:spcBef>
      <a:spcAft>
        <a:spcPct val="0"/>
      </a:spcAft>
      <a:defRPr kern="1200">
        <a:solidFill>
          <a:schemeClr val="tx1"/>
        </a:solidFill>
        <a:latin typeface="Arial" charset="0"/>
        <a:ea typeface="+mn-ea"/>
        <a:cs typeface="Arial" charset="0"/>
      </a:defRPr>
    </a:lvl3pPr>
    <a:lvl4pPr marL="1527175" indent="-155575" algn="l" rtl="0" fontAlgn="base">
      <a:spcBef>
        <a:spcPct val="0"/>
      </a:spcBef>
      <a:spcAft>
        <a:spcPct val="0"/>
      </a:spcAft>
      <a:defRPr kern="1200">
        <a:solidFill>
          <a:schemeClr val="tx1"/>
        </a:solidFill>
        <a:latin typeface="Arial" charset="0"/>
        <a:ea typeface="+mn-ea"/>
        <a:cs typeface="Arial" charset="0"/>
      </a:defRPr>
    </a:lvl4pPr>
    <a:lvl5pPr marL="2036763" indent="-207963"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1248">
          <p15:clr>
            <a:srgbClr val="A4A3A4"/>
          </p15:clr>
        </p15:guide>
        <p15:guide id="2" pos="288">
          <p15:clr>
            <a:srgbClr val="A4A3A4"/>
          </p15:clr>
        </p15:guide>
      </p15:sldGuideLst>
    </p:ext>
    <p:ext uri="{2D200454-40CA-4A62-9FC3-DE9A4176ACB9}">
      <p15:notesGuideLst xmlns:p15="http://schemas.microsoft.com/office/powerpoint/2012/main">
        <p15:guide id="1" orient="horz" pos="2949" userDrawn="1">
          <p15:clr>
            <a:srgbClr val="A4A3A4"/>
          </p15:clr>
        </p15:guide>
        <p15:guide id="2" pos="2229"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David" initials="D" lastIdx="3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16309"/>
    <a:srgbClr val="009900"/>
    <a:srgbClr val="648233"/>
    <a:srgbClr val="B35408"/>
    <a:srgbClr val="1F497D"/>
    <a:srgbClr val="E2E8E7"/>
    <a:srgbClr val="708C85"/>
    <a:srgbClr val="85AD45"/>
    <a:srgbClr val="789C3E"/>
    <a:srgbClr val="C7940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56" autoAdjust="0"/>
    <p:restoredTop sz="99886" autoAdjust="0"/>
  </p:normalViewPr>
  <p:slideViewPr>
    <p:cSldViewPr>
      <p:cViewPr varScale="1">
        <p:scale>
          <a:sx n="99" d="100"/>
          <a:sy n="99" d="100"/>
        </p:scale>
        <p:origin x="1602" y="78"/>
      </p:cViewPr>
      <p:guideLst>
        <p:guide orient="horz" pos="1248"/>
        <p:guide pos="288"/>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62" d="100"/>
          <a:sy n="62" d="100"/>
        </p:scale>
        <p:origin x="-3354" y="-84"/>
      </p:cViewPr>
      <p:guideLst>
        <p:guide orient="horz" pos="2949"/>
        <p:guide pos="2229"/>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handoutMaster" Target="handoutMasters/handoutMaster1.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gs" Target="tags/tag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3" y="0"/>
            <a:ext cx="3066002" cy="468678"/>
          </a:xfrm>
          <a:prstGeom prst="rect">
            <a:avLst/>
          </a:prstGeom>
        </p:spPr>
        <p:txBody>
          <a:bodyPr vert="horz" lIns="92780" tIns="46391" rIns="92780" bIns="46391" rtlCol="0"/>
          <a:lstStyle>
            <a:lvl1pPr algn="l">
              <a:defRPr sz="1200"/>
            </a:lvl1pPr>
          </a:lstStyle>
          <a:p>
            <a:endParaRPr lang="ko-KR" altLang="en-US"/>
          </a:p>
        </p:txBody>
      </p:sp>
      <p:sp>
        <p:nvSpPr>
          <p:cNvPr id="3" name="Date Placeholder 2"/>
          <p:cNvSpPr>
            <a:spLocks noGrp="1"/>
          </p:cNvSpPr>
          <p:nvPr>
            <p:ph type="dt" sz="quarter" idx="1"/>
          </p:nvPr>
        </p:nvSpPr>
        <p:spPr>
          <a:xfrm>
            <a:off x="4009391" y="0"/>
            <a:ext cx="3066002" cy="468678"/>
          </a:xfrm>
          <a:prstGeom prst="rect">
            <a:avLst/>
          </a:prstGeom>
        </p:spPr>
        <p:txBody>
          <a:bodyPr vert="horz" lIns="92780" tIns="46391" rIns="92780" bIns="46391" rtlCol="0"/>
          <a:lstStyle>
            <a:lvl1pPr algn="r">
              <a:defRPr sz="1200"/>
            </a:lvl1pPr>
          </a:lstStyle>
          <a:p>
            <a:fld id="{F891BEDC-3B57-45E1-A745-B9A34FA4E18D}" type="datetimeFigureOut">
              <a:rPr lang="ko-KR" altLang="en-US" smtClean="0"/>
              <a:pPr/>
              <a:t>2018-02-12</a:t>
            </a:fld>
            <a:endParaRPr lang="ko-KR" altLang="en-US"/>
          </a:p>
        </p:txBody>
      </p:sp>
      <p:sp>
        <p:nvSpPr>
          <p:cNvPr id="4" name="Footer Placeholder 3"/>
          <p:cNvSpPr>
            <a:spLocks noGrp="1"/>
          </p:cNvSpPr>
          <p:nvPr>
            <p:ph type="ftr" sz="quarter" idx="2"/>
          </p:nvPr>
        </p:nvSpPr>
        <p:spPr>
          <a:xfrm>
            <a:off x="3" y="8892904"/>
            <a:ext cx="3066002" cy="468677"/>
          </a:xfrm>
          <a:prstGeom prst="rect">
            <a:avLst/>
          </a:prstGeom>
        </p:spPr>
        <p:txBody>
          <a:bodyPr vert="horz" lIns="92780" tIns="46391" rIns="92780" bIns="46391" rtlCol="0" anchor="b"/>
          <a:lstStyle>
            <a:lvl1pPr algn="l">
              <a:defRPr sz="1200"/>
            </a:lvl1pPr>
          </a:lstStyle>
          <a:p>
            <a:endParaRPr lang="ko-KR" altLang="en-US"/>
          </a:p>
        </p:txBody>
      </p:sp>
      <p:sp>
        <p:nvSpPr>
          <p:cNvPr id="5" name="Slide Number Placeholder 4"/>
          <p:cNvSpPr>
            <a:spLocks noGrp="1"/>
          </p:cNvSpPr>
          <p:nvPr>
            <p:ph type="sldNum" sz="quarter" idx="3"/>
          </p:nvPr>
        </p:nvSpPr>
        <p:spPr>
          <a:xfrm>
            <a:off x="4009391" y="8892904"/>
            <a:ext cx="3066002" cy="468677"/>
          </a:xfrm>
          <a:prstGeom prst="rect">
            <a:avLst/>
          </a:prstGeom>
        </p:spPr>
        <p:txBody>
          <a:bodyPr vert="horz" lIns="92780" tIns="46391" rIns="92780" bIns="46391" rtlCol="0" anchor="b"/>
          <a:lstStyle>
            <a:lvl1pPr algn="r">
              <a:defRPr sz="1200"/>
            </a:lvl1pPr>
          </a:lstStyle>
          <a:p>
            <a:fld id="{48F4F294-208D-4142-A694-3FC18733FB38}" type="slidenum">
              <a:rPr lang="ko-KR" altLang="en-US" smtClean="0"/>
              <a:pPr/>
              <a:t>‹#›</a:t>
            </a:fld>
            <a:endParaRPr lang="ko-KR" altLang="en-US"/>
          </a:p>
        </p:txBody>
      </p:sp>
    </p:spTree>
    <p:extLst>
      <p:ext uri="{BB962C8B-B14F-4D97-AF65-F5344CB8AC3E}">
        <p14:creationId xmlns:p14="http://schemas.microsoft.com/office/powerpoint/2010/main" val="39598271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3" y="5"/>
            <a:ext cx="3067040" cy="469083"/>
          </a:xfrm>
          <a:prstGeom prst="rect">
            <a:avLst/>
          </a:prstGeom>
        </p:spPr>
        <p:txBody>
          <a:bodyPr vert="horz" lIns="94529" tIns="47264" rIns="94529" bIns="47264" rtlCol="0"/>
          <a:lstStyle>
            <a:lvl1pPr algn="l" fontAlgn="auto">
              <a:spcBef>
                <a:spcPts val="0"/>
              </a:spcBef>
              <a:spcAft>
                <a:spcPts val="0"/>
              </a:spcAft>
              <a:defRPr sz="1200">
                <a:latin typeface="+mn-lt"/>
                <a:cs typeface="+mn-cs"/>
              </a:defRPr>
            </a:lvl1pPr>
          </a:lstStyle>
          <a:p>
            <a:pPr>
              <a:defRPr/>
            </a:pPr>
            <a:endParaRPr lang="en-US"/>
          </a:p>
        </p:txBody>
      </p:sp>
      <p:sp>
        <p:nvSpPr>
          <p:cNvPr id="3" name="Date Placeholder 2"/>
          <p:cNvSpPr>
            <a:spLocks noGrp="1"/>
          </p:cNvSpPr>
          <p:nvPr>
            <p:ph type="dt" idx="1"/>
          </p:nvPr>
        </p:nvSpPr>
        <p:spPr>
          <a:xfrm>
            <a:off x="4008501" y="5"/>
            <a:ext cx="3067040" cy="469083"/>
          </a:xfrm>
          <a:prstGeom prst="rect">
            <a:avLst/>
          </a:prstGeom>
        </p:spPr>
        <p:txBody>
          <a:bodyPr vert="horz" lIns="94529" tIns="47264" rIns="94529" bIns="47264" rtlCol="0"/>
          <a:lstStyle>
            <a:lvl1pPr algn="r" fontAlgn="auto">
              <a:spcBef>
                <a:spcPts val="0"/>
              </a:spcBef>
              <a:spcAft>
                <a:spcPts val="0"/>
              </a:spcAft>
              <a:defRPr sz="1200">
                <a:latin typeface="+mn-lt"/>
                <a:cs typeface="+mn-cs"/>
              </a:defRPr>
            </a:lvl1pPr>
          </a:lstStyle>
          <a:p>
            <a:pPr>
              <a:defRPr/>
            </a:pPr>
            <a:fld id="{6FF0A77A-FFF4-462F-98AB-FCA0A2827280}" type="datetimeFigureOut">
              <a:rPr lang="en-US"/>
              <a:pPr>
                <a:defRPr/>
              </a:pPr>
              <a:t>2/12/2018</a:t>
            </a:fld>
            <a:endParaRPr lang="en-US"/>
          </a:p>
        </p:txBody>
      </p:sp>
      <p:sp>
        <p:nvSpPr>
          <p:cNvPr id="4" name="Slide Image Placeholder 3"/>
          <p:cNvSpPr>
            <a:spLocks noGrp="1" noRot="1" noChangeAspect="1"/>
          </p:cNvSpPr>
          <p:nvPr>
            <p:ph type="sldImg" idx="2"/>
          </p:nvPr>
        </p:nvSpPr>
        <p:spPr>
          <a:xfrm>
            <a:off x="1268413" y="703263"/>
            <a:ext cx="4540250" cy="3509962"/>
          </a:xfrm>
          <a:prstGeom prst="rect">
            <a:avLst/>
          </a:prstGeom>
          <a:noFill/>
          <a:ln w="12700">
            <a:solidFill>
              <a:prstClr val="black"/>
            </a:solidFill>
          </a:ln>
        </p:spPr>
        <p:txBody>
          <a:bodyPr vert="horz" lIns="94529" tIns="47264" rIns="94529" bIns="47264" rtlCol="0" anchor="ctr"/>
          <a:lstStyle/>
          <a:p>
            <a:pPr lvl="0"/>
            <a:endParaRPr lang="en-US" noProof="0"/>
          </a:p>
        </p:txBody>
      </p:sp>
      <p:sp>
        <p:nvSpPr>
          <p:cNvPr id="5" name="Notes Placeholder 4"/>
          <p:cNvSpPr>
            <a:spLocks noGrp="1"/>
          </p:cNvSpPr>
          <p:nvPr>
            <p:ph type="body" sz="quarter" idx="3"/>
          </p:nvPr>
        </p:nvSpPr>
        <p:spPr>
          <a:xfrm>
            <a:off x="708019" y="4447774"/>
            <a:ext cx="5661045" cy="4214003"/>
          </a:xfrm>
          <a:prstGeom prst="rect">
            <a:avLst/>
          </a:prstGeom>
        </p:spPr>
        <p:txBody>
          <a:bodyPr vert="horz" lIns="94529" tIns="47264" rIns="94529" bIns="47264"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3" y="8892449"/>
            <a:ext cx="3067040" cy="469083"/>
          </a:xfrm>
          <a:prstGeom prst="rect">
            <a:avLst/>
          </a:prstGeom>
        </p:spPr>
        <p:txBody>
          <a:bodyPr vert="horz" lIns="94529" tIns="47264" rIns="94529" bIns="47264" rtlCol="0" anchor="b"/>
          <a:lstStyle>
            <a:lvl1pPr algn="l" fontAlgn="auto">
              <a:spcBef>
                <a:spcPts val="0"/>
              </a:spcBef>
              <a:spcAft>
                <a:spcPts val="0"/>
              </a:spcAft>
              <a:defRPr sz="1200">
                <a:latin typeface="+mn-lt"/>
                <a:cs typeface="+mn-cs"/>
              </a:defRPr>
            </a:lvl1pPr>
          </a:lstStyle>
          <a:p>
            <a:pPr>
              <a:defRPr/>
            </a:pPr>
            <a:endParaRPr lang="en-US"/>
          </a:p>
        </p:txBody>
      </p:sp>
      <p:sp>
        <p:nvSpPr>
          <p:cNvPr id="7" name="Slide Number Placeholder 6"/>
          <p:cNvSpPr>
            <a:spLocks noGrp="1"/>
          </p:cNvSpPr>
          <p:nvPr>
            <p:ph type="sldNum" sz="quarter" idx="5"/>
          </p:nvPr>
        </p:nvSpPr>
        <p:spPr>
          <a:xfrm>
            <a:off x="4008501" y="8892449"/>
            <a:ext cx="3067040" cy="469083"/>
          </a:xfrm>
          <a:prstGeom prst="rect">
            <a:avLst/>
          </a:prstGeom>
        </p:spPr>
        <p:txBody>
          <a:bodyPr vert="horz" lIns="94529" tIns="47264" rIns="94529" bIns="47264" rtlCol="0" anchor="b"/>
          <a:lstStyle>
            <a:lvl1pPr algn="r" fontAlgn="auto">
              <a:spcBef>
                <a:spcPts val="0"/>
              </a:spcBef>
              <a:spcAft>
                <a:spcPts val="0"/>
              </a:spcAft>
              <a:defRPr sz="1200">
                <a:latin typeface="+mn-lt"/>
                <a:cs typeface="+mn-cs"/>
              </a:defRPr>
            </a:lvl1pPr>
          </a:lstStyle>
          <a:p>
            <a:pPr>
              <a:defRPr/>
            </a:pPr>
            <a:fld id="{A166B94C-FD5B-474F-919C-416A9CF8D6F9}" type="slidenum">
              <a:rPr lang="en-US"/>
              <a:pPr>
                <a:defRPr/>
              </a:pPr>
              <a:t>‹#›</a:t>
            </a:fld>
            <a:endParaRPr lang="en-US"/>
          </a:p>
        </p:txBody>
      </p:sp>
    </p:spTree>
    <p:extLst>
      <p:ext uri="{BB962C8B-B14F-4D97-AF65-F5344CB8AC3E}">
        <p14:creationId xmlns:p14="http://schemas.microsoft.com/office/powerpoint/2010/main" val="333095647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300" kern="1200">
        <a:solidFill>
          <a:schemeClr val="tx1"/>
        </a:solidFill>
        <a:latin typeface="+mn-lt"/>
        <a:ea typeface="+mn-ea"/>
        <a:cs typeface="+mn-cs"/>
      </a:defRPr>
    </a:lvl1pPr>
    <a:lvl2pPr marL="508000" algn="l" rtl="0" eaLnBrk="0" fontAlgn="base" hangingPunct="0">
      <a:spcBef>
        <a:spcPct val="30000"/>
      </a:spcBef>
      <a:spcAft>
        <a:spcPct val="0"/>
      </a:spcAft>
      <a:defRPr sz="1300" kern="1200">
        <a:solidFill>
          <a:schemeClr val="tx1"/>
        </a:solidFill>
        <a:latin typeface="+mn-lt"/>
        <a:ea typeface="+mn-ea"/>
        <a:cs typeface="+mn-cs"/>
      </a:defRPr>
    </a:lvl2pPr>
    <a:lvl3pPr marL="1017588" algn="l" rtl="0" eaLnBrk="0" fontAlgn="base" hangingPunct="0">
      <a:spcBef>
        <a:spcPct val="30000"/>
      </a:spcBef>
      <a:spcAft>
        <a:spcPct val="0"/>
      </a:spcAft>
      <a:defRPr sz="1300" kern="1200">
        <a:solidFill>
          <a:schemeClr val="tx1"/>
        </a:solidFill>
        <a:latin typeface="+mn-lt"/>
        <a:ea typeface="+mn-ea"/>
        <a:cs typeface="+mn-cs"/>
      </a:defRPr>
    </a:lvl3pPr>
    <a:lvl4pPr marL="1527175" algn="l" rtl="0" eaLnBrk="0" fontAlgn="base" hangingPunct="0">
      <a:spcBef>
        <a:spcPct val="30000"/>
      </a:spcBef>
      <a:spcAft>
        <a:spcPct val="0"/>
      </a:spcAft>
      <a:defRPr sz="1300" kern="1200">
        <a:solidFill>
          <a:schemeClr val="tx1"/>
        </a:solidFill>
        <a:latin typeface="+mn-lt"/>
        <a:ea typeface="+mn-ea"/>
        <a:cs typeface="+mn-cs"/>
      </a:defRPr>
    </a:lvl4pPr>
    <a:lvl5pPr marL="2036763" algn="l" rtl="0" eaLnBrk="0" fontAlgn="base" hangingPunct="0">
      <a:spcBef>
        <a:spcPct val="30000"/>
      </a:spcBef>
      <a:spcAft>
        <a:spcPct val="0"/>
      </a:spcAft>
      <a:defRPr sz="1300" kern="1200">
        <a:solidFill>
          <a:schemeClr val="tx1"/>
        </a:solidFill>
        <a:latin typeface="+mn-lt"/>
        <a:ea typeface="+mn-ea"/>
        <a:cs typeface="+mn-cs"/>
      </a:defRPr>
    </a:lvl5pPr>
    <a:lvl6pPr marL="2547061" algn="l" defTabSz="1018824" rtl="0" eaLnBrk="1" latinLnBrk="0" hangingPunct="1">
      <a:defRPr sz="1300" kern="1200">
        <a:solidFill>
          <a:schemeClr val="tx1"/>
        </a:solidFill>
        <a:latin typeface="+mn-lt"/>
        <a:ea typeface="+mn-ea"/>
        <a:cs typeface="+mn-cs"/>
      </a:defRPr>
    </a:lvl6pPr>
    <a:lvl7pPr marL="3056473" algn="l" defTabSz="1018824" rtl="0" eaLnBrk="1" latinLnBrk="0" hangingPunct="1">
      <a:defRPr sz="1300" kern="1200">
        <a:solidFill>
          <a:schemeClr val="tx1"/>
        </a:solidFill>
        <a:latin typeface="+mn-lt"/>
        <a:ea typeface="+mn-ea"/>
        <a:cs typeface="+mn-cs"/>
      </a:defRPr>
    </a:lvl7pPr>
    <a:lvl8pPr marL="3565886" algn="l" defTabSz="1018824" rtl="0" eaLnBrk="1" latinLnBrk="0" hangingPunct="1">
      <a:defRPr sz="1300" kern="1200">
        <a:solidFill>
          <a:schemeClr val="tx1"/>
        </a:solidFill>
        <a:latin typeface="+mn-lt"/>
        <a:ea typeface="+mn-ea"/>
        <a:cs typeface="+mn-cs"/>
      </a:defRPr>
    </a:lvl8pPr>
    <a:lvl9pPr marL="4075298" algn="l" defTabSz="1018824" rtl="0" eaLnBrk="1" latinLnBrk="0" hangingPunct="1">
      <a:defRPr sz="13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p:cNvSpPr>
            <a:spLocks noGrp="1" noRot="1" noChangeAspect="1" noTextEdit="1"/>
          </p:cNvSpPr>
          <p:nvPr>
            <p:ph type="sldImg"/>
          </p:nvPr>
        </p:nvSpPr>
        <p:spPr bwMode="auto">
          <a:noFill/>
          <a:ln>
            <a:solidFill>
              <a:srgbClr val="000000"/>
            </a:solidFill>
            <a:miter lim="800000"/>
            <a:headEnd/>
            <a:tailEnd/>
          </a:ln>
        </p:spPr>
      </p:sp>
      <p:sp>
        <p:nvSpPr>
          <p:cNvPr id="45059"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dirty="0"/>
          </a:p>
        </p:txBody>
      </p:sp>
      <p:sp>
        <p:nvSpPr>
          <p:cNvPr id="32772"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2E2339EC-7B59-4000-9C3B-331145BFD817}" type="slidenum">
              <a:rPr lang="en-US" smtClean="0"/>
              <a:pPr fontAlgn="base">
                <a:spcBef>
                  <a:spcPct val="0"/>
                </a:spcBef>
                <a:spcAft>
                  <a:spcPct val="0"/>
                </a:spcAft>
                <a:defRPr/>
              </a:pPr>
              <a:t>0</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70560" y="2418081"/>
            <a:ext cx="2514600" cy="1666028"/>
          </a:xfrm>
          <a:prstGeom prst="rect">
            <a:avLst/>
          </a:prstGeom>
        </p:spPr>
        <p:txBody>
          <a:bodyPr>
            <a:normAutofit/>
          </a:bodyPr>
          <a:lstStyle>
            <a:lvl1pPr algn="l">
              <a:defRPr sz="2000" b="1">
                <a:latin typeface="Myriad Pro" pitchFamily="34" charset="0"/>
              </a:defRPr>
            </a:lvl1pPr>
          </a:lstStyle>
          <a:p>
            <a:r>
              <a:rPr lang="en-US" dirty="0"/>
              <a:t>Click to edit Master title style</a:t>
            </a:r>
          </a:p>
        </p:txBody>
      </p:sp>
      <p:sp>
        <p:nvSpPr>
          <p:cNvPr id="3" name="Subtitle 2"/>
          <p:cNvSpPr>
            <a:spLocks noGrp="1"/>
          </p:cNvSpPr>
          <p:nvPr>
            <p:ph type="subTitle" idx="1"/>
          </p:nvPr>
        </p:nvSpPr>
        <p:spPr>
          <a:xfrm>
            <a:off x="754380" y="4318000"/>
            <a:ext cx="2263140" cy="1986280"/>
          </a:xfrm>
          <a:prstGeom prst="rect">
            <a:avLst/>
          </a:prstGeom>
        </p:spPr>
        <p:txBody>
          <a:bodyPr>
            <a:normAutofit/>
          </a:bodyPr>
          <a:lstStyle>
            <a:lvl1pPr marL="0" indent="0" algn="l">
              <a:buNone/>
              <a:defRPr sz="1600">
                <a:solidFill>
                  <a:schemeClr val="tx1">
                    <a:tint val="75000"/>
                  </a:schemeClr>
                </a:solidFill>
                <a:latin typeface="Myriad Pro" pitchFamily="34" charset="0"/>
              </a:defRPr>
            </a:lvl1pPr>
            <a:lvl2pPr marL="509412" indent="0" algn="ctr">
              <a:buNone/>
              <a:defRPr>
                <a:solidFill>
                  <a:schemeClr val="tx1">
                    <a:tint val="75000"/>
                  </a:schemeClr>
                </a:solidFill>
              </a:defRPr>
            </a:lvl2pPr>
            <a:lvl3pPr marL="1018824" indent="0" algn="ctr">
              <a:buNone/>
              <a:defRPr>
                <a:solidFill>
                  <a:schemeClr val="tx1">
                    <a:tint val="75000"/>
                  </a:schemeClr>
                </a:solidFill>
              </a:defRPr>
            </a:lvl3pPr>
            <a:lvl4pPr marL="1528237" indent="0" algn="ctr">
              <a:buNone/>
              <a:defRPr>
                <a:solidFill>
                  <a:schemeClr val="tx1">
                    <a:tint val="75000"/>
                  </a:schemeClr>
                </a:solidFill>
              </a:defRPr>
            </a:lvl4pPr>
            <a:lvl5pPr marL="2037649" indent="0" algn="ctr">
              <a:buNone/>
              <a:defRPr>
                <a:solidFill>
                  <a:schemeClr val="tx1">
                    <a:tint val="75000"/>
                  </a:schemeClr>
                </a:solidFill>
              </a:defRPr>
            </a:lvl5pPr>
            <a:lvl6pPr marL="2547061" indent="0" algn="ctr">
              <a:buNone/>
              <a:defRPr>
                <a:solidFill>
                  <a:schemeClr val="tx1">
                    <a:tint val="75000"/>
                  </a:schemeClr>
                </a:solidFill>
              </a:defRPr>
            </a:lvl6pPr>
            <a:lvl7pPr marL="3056473" indent="0" algn="ctr">
              <a:buNone/>
              <a:defRPr>
                <a:solidFill>
                  <a:schemeClr val="tx1">
                    <a:tint val="75000"/>
                  </a:schemeClr>
                </a:solidFill>
              </a:defRPr>
            </a:lvl7pPr>
            <a:lvl8pPr marL="3565886" indent="0" algn="ctr">
              <a:buNone/>
              <a:defRPr>
                <a:solidFill>
                  <a:schemeClr val="tx1">
                    <a:tint val="75000"/>
                  </a:schemeClr>
                </a:solidFill>
              </a:defRPr>
            </a:lvl8pPr>
            <a:lvl9pPr marL="4075298" indent="0" algn="ctr">
              <a:buNone/>
              <a:defRPr>
                <a:solidFill>
                  <a:schemeClr val="tx1">
                    <a:tint val="75000"/>
                  </a:schemeClr>
                </a:solidFill>
              </a:defRPr>
            </a:lvl9pPr>
          </a:lstStyle>
          <a:p>
            <a:r>
              <a:rPr lang="en-US" dirty="0"/>
              <a:t>Click to edit Master subtitle style</a:t>
            </a:r>
          </a:p>
        </p:txBody>
      </p:sp>
      <p:sp>
        <p:nvSpPr>
          <p:cNvPr id="6" name="TextBox 5"/>
          <p:cNvSpPr txBox="1"/>
          <p:nvPr userDrawn="1"/>
        </p:nvSpPr>
        <p:spPr>
          <a:xfrm>
            <a:off x="6096000" y="990600"/>
            <a:ext cx="3525324" cy="400110"/>
          </a:xfrm>
          <a:prstGeom prst="rect">
            <a:avLst/>
          </a:prstGeom>
          <a:solidFill>
            <a:schemeClr val="bg1"/>
          </a:solidFill>
        </p:spPr>
        <p:txBody>
          <a:bodyPr wrap="none" rtlCol="0">
            <a:spAutoFit/>
          </a:bodyPr>
          <a:lstStyle/>
          <a:p>
            <a:r>
              <a:rPr lang="en-US" sz="2000" i="1" dirty="0">
                <a:solidFill>
                  <a:schemeClr val="tx2"/>
                </a:solidFill>
                <a:latin typeface="Gill Sans MT" pitchFamily="34" charset="0"/>
              </a:rPr>
              <a:t>Innovative.  Transparent.  Exposure.</a:t>
            </a:r>
          </a:p>
        </p:txBody>
      </p:sp>
      <p:pic>
        <p:nvPicPr>
          <p:cNvPr id="7" name="Picture 6" descr="EQM Indexes Logo.jpg"/>
          <p:cNvPicPr>
            <a:picLocks noChangeAspect="1"/>
          </p:cNvPicPr>
          <p:nvPr userDrawn="1"/>
        </p:nvPicPr>
        <p:blipFill>
          <a:blip r:embed="rId2" cstate="print"/>
          <a:stretch>
            <a:fillRect/>
          </a:stretch>
        </p:blipFill>
        <p:spPr>
          <a:xfrm>
            <a:off x="533399" y="457200"/>
            <a:ext cx="1608881" cy="91440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4" name="Straight Connector 3"/>
          <p:cNvCxnSpPr/>
          <p:nvPr userDrawn="1"/>
        </p:nvCxnSpPr>
        <p:spPr>
          <a:xfrm>
            <a:off x="457200" y="1066800"/>
            <a:ext cx="90678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userDrawn="1"/>
        </p:nvCxnSpPr>
        <p:spPr>
          <a:xfrm rot="5400000">
            <a:off x="8724900" y="7388225"/>
            <a:ext cx="228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 name="Slide Number Placeholder 5"/>
          <p:cNvSpPr txBox="1">
            <a:spLocks/>
          </p:cNvSpPr>
          <p:nvPr userDrawn="1"/>
        </p:nvSpPr>
        <p:spPr>
          <a:xfrm>
            <a:off x="7208838" y="7204075"/>
            <a:ext cx="2346325" cy="414338"/>
          </a:xfrm>
          <a:prstGeom prst="rect">
            <a:avLst/>
          </a:prstGeom>
        </p:spPr>
        <p:txBody>
          <a:bodyPr lIns="101882" tIns="50941" rIns="101882" bIns="50941" anchor="ctr"/>
          <a:lstStyle>
            <a:lvl1pPr>
              <a:defRPr/>
            </a:lvl1pPr>
          </a:lstStyle>
          <a:p>
            <a:pPr algn="r" fontAlgn="auto">
              <a:spcBef>
                <a:spcPts val="0"/>
              </a:spcBef>
              <a:spcAft>
                <a:spcPts val="0"/>
              </a:spcAft>
              <a:defRPr/>
            </a:pPr>
            <a:r>
              <a:rPr lang="en-US" sz="1150" i="1" dirty="0">
                <a:latin typeface="Myriad Pro" pitchFamily="34" charset="0"/>
                <a:cs typeface="+mn-cs"/>
              </a:rPr>
              <a:t>page </a:t>
            </a:r>
            <a:fld id="{46F32E95-C826-4AEC-AA54-E75F9D8E9E6E}" type="slidenum">
              <a:rPr lang="en-US" sz="1150" i="1" smtClean="0">
                <a:latin typeface="Myriad Pro" pitchFamily="34" charset="0"/>
                <a:cs typeface="+mn-cs"/>
              </a:rPr>
              <a:pPr algn="r" fontAlgn="auto">
                <a:spcBef>
                  <a:spcPts val="0"/>
                </a:spcBef>
                <a:spcAft>
                  <a:spcPts val="0"/>
                </a:spcAft>
                <a:defRPr/>
              </a:pPr>
              <a:t>‹#›</a:t>
            </a:fld>
            <a:endParaRPr lang="en-US" sz="1150" i="1" dirty="0">
              <a:latin typeface="Myriad Pro" pitchFamily="34" charset="0"/>
              <a:cs typeface="+mn-cs"/>
            </a:endParaRPr>
          </a:p>
        </p:txBody>
      </p:sp>
      <p:sp>
        <p:nvSpPr>
          <p:cNvPr id="2" name="Title 1"/>
          <p:cNvSpPr>
            <a:spLocks noGrp="1"/>
          </p:cNvSpPr>
          <p:nvPr>
            <p:ph type="title"/>
          </p:nvPr>
        </p:nvSpPr>
        <p:spPr>
          <a:xfrm>
            <a:off x="457200" y="533400"/>
            <a:ext cx="9052560" cy="552344"/>
          </a:xfrm>
          <a:prstGeom prst="rect">
            <a:avLst/>
          </a:prstGeom>
        </p:spPr>
        <p:txBody>
          <a:bodyPr>
            <a:normAutofit/>
          </a:bodyPr>
          <a:lstStyle>
            <a:lvl1pPr algn="l">
              <a:defRPr sz="2200" b="1">
                <a:latin typeface="Myriad Pro" pitchFamily="34" charset="0"/>
              </a:defRPr>
            </a:lvl1pPr>
          </a:lstStyle>
          <a:p>
            <a:r>
              <a:rPr lang="en-US" dirty="0"/>
              <a:t>Click to edit Master title style</a:t>
            </a:r>
          </a:p>
        </p:txBody>
      </p:sp>
      <p:sp>
        <p:nvSpPr>
          <p:cNvPr id="3" name="Content Placeholder 2"/>
          <p:cNvSpPr>
            <a:spLocks noGrp="1"/>
          </p:cNvSpPr>
          <p:nvPr>
            <p:ph idx="1"/>
          </p:nvPr>
        </p:nvSpPr>
        <p:spPr>
          <a:xfrm>
            <a:off x="457200" y="1676401"/>
            <a:ext cx="9052560" cy="5105400"/>
          </a:xfrm>
          <a:prstGeom prst="rect">
            <a:avLst/>
          </a:prstGeom>
        </p:spPr>
        <p:txBody>
          <a:bodyPr/>
          <a:lstStyle>
            <a:lvl1pPr>
              <a:buNone/>
              <a:defRPr sz="1400" b="1" i="1">
                <a:latin typeface="Myriad Pro" pitchFamily="34" charset="0"/>
              </a:defRPr>
            </a:lvl1pPr>
            <a:lvl2pPr marL="344488" indent="-177800">
              <a:buClr>
                <a:srgbClr val="1F497D"/>
              </a:buClr>
              <a:buFont typeface="Arial" pitchFamily="34" charset="0"/>
              <a:buChar char="•"/>
              <a:defRPr sz="1400">
                <a:latin typeface="Myriad Pro" pitchFamily="34" charset="0"/>
              </a:defRPr>
            </a:lvl2pPr>
            <a:lvl3pPr marL="509412" indent="-192799">
              <a:buClr>
                <a:srgbClr val="1F497D"/>
              </a:buClr>
              <a:buSzPct val="50000"/>
              <a:buFont typeface="Myriad Pro" pitchFamily="34" charset="0"/>
              <a:buChar char="—"/>
              <a:defRPr sz="1400">
                <a:latin typeface="Myriad Pro" pitchFamily="34" charset="0"/>
              </a:defRPr>
            </a:lvl3pPr>
            <a:lvl4pPr marL="769425" indent="-260013">
              <a:buFont typeface="Courier New" pitchFamily="49" charset="0"/>
              <a:buChar char="o"/>
              <a:defRPr sz="1400">
                <a:latin typeface="Myriad Pro" pitchFamily="34" charset="0"/>
              </a:defRPr>
            </a:lvl4pPr>
            <a:lvl5pPr marL="1018824" indent="-249400">
              <a:buFont typeface="Calibri" pitchFamily="34" charset="0"/>
              <a:buChar char="–"/>
              <a:defRPr sz="1400">
                <a:latin typeface="Myriad Pro"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8" name="Picture 7" descr="EQM Indexes Logo.jpg"/>
          <p:cNvPicPr>
            <a:picLocks noChangeAspect="1"/>
          </p:cNvPicPr>
          <p:nvPr userDrawn="1"/>
        </p:nvPicPr>
        <p:blipFill>
          <a:blip r:embed="rId2" cstate="print"/>
          <a:stretch>
            <a:fillRect/>
          </a:stretch>
        </p:blipFill>
        <p:spPr>
          <a:xfrm>
            <a:off x="609600" y="6934200"/>
            <a:ext cx="990600" cy="563003"/>
          </a:xfrm>
          <a:prstGeom prst="rect">
            <a:avLst/>
          </a:prstGeom>
        </p:spPr>
      </p:pic>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03238" y="311150"/>
            <a:ext cx="9051925" cy="908050"/>
          </a:xfrm>
          <a:prstGeom prst="rect">
            <a:avLst/>
          </a:prstGeo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502920" y="1739795"/>
            <a:ext cx="4444207" cy="725064"/>
          </a:xfrm>
          <a:prstGeom prst="rect">
            <a:avLst/>
          </a:prstGeom>
        </p:spPr>
        <p:txBody>
          <a:bodyPr anchor="b"/>
          <a:lstStyle>
            <a:lvl1pPr marL="0" indent="0">
              <a:buNone/>
              <a:defRPr sz="2700" b="1"/>
            </a:lvl1pPr>
            <a:lvl2pPr marL="509412" indent="0">
              <a:buNone/>
              <a:defRPr sz="2200" b="1"/>
            </a:lvl2pPr>
            <a:lvl3pPr marL="1018824" indent="0">
              <a:buNone/>
              <a:defRPr sz="2000" b="1"/>
            </a:lvl3pPr>
            <a:lvl4pPr marL="1528237" indent="0">
              <a:buNone/>
              <a:defRPr sz="1800" b="1"/>
            </a:lvl4pPr>
            <a:lvl5pPr marL="2037649" indent="0">
              <a:buNone/>
              <a:defRPr sz="1800" b="1"/>
            </a:lvl5pPr>
            <a:lvl6pPr marL="2547061" indent="0">
              <a:buNone/>
              <a:defRPr sz="1800" b="1"/>
            </a:lvl6pPr>
            <a:lvl7pPr marL="3056473" indent="0">
              <a:buNone/>
              <a:defRPr sz="1800" b="1"/>
            </a:lvl7pPr>
            <a:lvl8pPr marL="3565886" indent="0">
              <a:buNone/>
              <a:defRPr sz="1800" b="1"/>
            </a:lvl8pPr>
            <a:lvl9pPr marL="4075298" indent="0">
              <a:buNone/>
              <a:defRPr sz="1800" b="1"/>
            </a:lvl9pPr>
          </a:lstStyle>
          <a:p>
            <a:pPr lvl="0"/>
            <a:r>
              <a:rPr lang="en-US"/>
              <a:t>Click to edit Master text styles</a:t>
            </a:r>
          </a:p>
        </p:txBody>
      </p:sp>
      <p:sp>
        <p:nvSpPr>
          <p:cNvPr id="4" name="Content Placeholder 3"/>
          <p:cNvSpPr>
            <a:spLocks noGrp="1"/>
          </p:cNvSpPr>
          <p:nvPr>
            <p:ph sz="half" idx="2"/>
          </p:nvPr>
        </p:nvSpPr>
        <p:spPr>
          <a:xfrm>
            <a:off x="502920" y="2464859"/>
            <a:ext cx="4444207" cy="4478126"/>
          </a:xfrm>
          <a:prstGeom prst="rect">
            <a:avLst/>
          </a:prstGeom>
        </p:spPr>
        <p:txBody>
          <a:bodyPr/>
          <a:lstStyle>
            <a:lvl1pPr>
              <a:defRPr sz="2700"/>
            </a:lvl1pPr>
            <a:lvl2pPr>
              <a:defRPr sz="22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109528" y="1739795"/>
            <a:ext cx="4445953" cy="725064"/>
          </a:xfrm>
          <a:prstGeom prst="rect">
            <a:avLst/>
          </a:prstGeom>
        </p:spPr>
        <p:txBody>
          <a:bodyPr anchor="b"/>
          <a:lstStyle>
            <a:lvl1pPr marL="0" indent="0">
              <a:buNone/>
              <a:defRPr sz="2700" b="1"/>
            </a:lvl1pPr>
            <a:lvl2pPr marL="509412" indent="0">
              <a:buNone/>
              <a:defRPr sz="2200" b="1"/>
            </a:lvl2pPr>
            <a:lvl3pPr marL="1018824" indent="0">
              <a:buNone/>
              <a:defRPr sz="2000" b="1"/>
            </a:lvl3pPr>
            <a:lvl4pPr marL="1528237" indent="0">
              <a:buNone/>
              <a:defRPr sz="1800" b="1"/>
            </a:lvl4pPr>
            <a:lvl5pPr marL="2037649" indent="0">
              <a:buNone/>
              <a:defRPr sz="1800" b="1"/>
            </a:lvl5pPr>
            <a:lvl6pPr marL="2547061" indent="0">
              <a:buNone/>
              <a:defRPr sz="1800" b="1"/>
            </a:lvl6pPr>
            <a:lvl7pPr marL="3056473" indent="0">
              <a:buNone/>
              <a:defRPr sz="1800" b="1"/>
            </a:lvl7pPr>
            <a:lvl8pPr marL="3565886" indent="0">
              <a:buNone/>
              <a:defRPr sz="1800" b="1"/>
            </a:lvl8pPr>
            <a:lvl9pPr marL="4075298" indent="0">
              <a:buNone/>
              <a:defRPr sz="1800" b="1"/>
            </a:lvl9pPr>
          </a:lstStyle>
          <a:p>
            <a:pPr lvl="0"/>
            <a:r>
              <a:rPr lang="en-US"/>
              <a:t>Click to edit Master text styles</a:t>
            </a:r>
          </a:p>
        </p:txBody>
      </p:sp>
      <p:sp>
        <p:nvSpPr>
          <p:cNvPr id="6" name="Content Placeholder 5"/>
          <p:cNvSpPr>
            <a:spLocks noGrp="1"/>
          </p:cNvSpPr>
          <p:nvPr>
            <p:ph sz="quarter" idx="4"/>
          </p:nvPr>
        </p:nvSpPr>
        <p:spPr>
          <a:xfrm>
            <a:off x="5109528" y="2464859"/>
            <a:ext cx="4445953" cy="4478126"/>
          </a:xfrm>
          <a:prstGeom prst="rect">
            <a:avLst/>
          </a:prstGeom>
        </p:spPr>
        <p:txBody>
          <a:bodyPr/>
          <a:lstStyle>
            <a:lvl1pPr>
              <a:defRPr sz="2700"/>
            </a:lvl1pPr>
            <a:lvl2pPr>
              <a:defRPr sz="22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a:xfrm>
            <a:off x="503238" y="7204075"/>
            <a:ext cx="2346325" cy="414338"/>
          </a:xfrm>
          <a:prstGeom prst="rect">
            <a:avLst/>
          </a:prstGeom>
        </p:spPr>
        <p:txBody>
          <a:bodyPr/>
          <a:lstStyle>
            <a:lvl1pPr>
              <a:defRPr/>
            </a:lvl1pPr>
          </a:lstStyle>
          <a:p>
            <a:pPr>
              <a:defRPr/>
            </a:pPr>
            <a:fld id="{572EBBBB-0E71-404F-9629-6E4AF3A227D3}" type="datetimeFigureOut">
              <a:rPr lang="en-US"/>
              <a:pPr>
                <a:defRPr/>
              </a:pPr>
              <a:t>2/12/2018</a:t>
            </a:fld>
            <a:endParaRPr lang="en-US"/>
          </a:p>
        </p:txBody>
      </p:sp>
      <p:sp>
        <p:nvSpPr>
          <p:cNvPr id="8" name="Footer Placeholder 4"/>
          <p:cNvSpPr>
            <a:spLocks noGrp="1"/>
          </p:cNvSpPr>
          <p:nvPr>
            <p:ph type="ftr" sz="quarter" idx="11"/>
          </p:nvPr>
        </p:nvSpPr>
        <p:spPr>
          <a:xfrm>
            <a:off x="3436938" y="7204075"/>
            <a:ext cx="3184525" cy="414338"/>
          </a:xfrm>
          <a:prstGeom prst="rect">
            <a:avLst/>
          </a:prstGeom>
        </p:spPr>
        <p:txBody>
          <a:bodyPr/>
          <a:lstStyle>
            <a:lvl1pPr>
              <a:defRPr/>
            </a:lvl1pPr>
          </a:lstStyle>
          <a:p>
            <a:pPr>
              <a:defRPr/>
            </a:pPr>
            <a:endParaRPr lang="en-US"/>
          </a:p>
        </p:txBody>
      </p:sp>
      <p:sp>
        <p:nvSpPr>
          <p:cNvPr id="9" name="Slide Number Placeholder 5"/>
          <p:cNvSpPr>
            <a:spLocks noGrp="1"/>
          </p:cNvSpPr>
          <p:nvPr>
            <p:ph type="sldNum" sz="quarter" idx="12"/>
          </p:nvPr>
        </p:nvSpPr>
        <p:spPr>
          <a:xfrm>
            <a:off x="7208838" y="7204075"/>
            <a:ext cx="2346325" cy="414338"/>
          </a:xfrm>
          <a:prstGeom prst="rect">
            <a:avLst/>
          </a:prstGeom>
        </p:spPr>
        <p:txBody>
          <a:bodyPr/>
          <a:lstStyle>
            <a:lvl1pPr>
              <a:defRPr/>
            </a:lvl1pPr>
          </a:lstStyle>
          <a:p>
            <a:pPr>
              <a:defRPr/>
            </a:pPr>
            <a:fld id="{0448F059-DDE7-4E49-ABB5-643719B60DC6}"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cxnSp>
        <p:nvCxnSpPr>
          <p:cNvPr id="4" name="Straight Connector 3"/>
          <p:cNvCxnSpPr/>
          <p:nvPr userDrawn="1"/>
        </p:nvCxnSpPr>
        <p:spPr>
          <a:xfrm>
            <a:off x="457200" y="1066800"/>
            <a:ext cx="90678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457200" y="457200"/>
            <a:ext cx="9052560" cy="609600"/>
          </a:xfrm>
          <a:prstGeom prst="rect">
            <a:avLst/>
          </a:prstGeom>
        </p:spPr>
        <p:txBody>
          <a:bodyPr/>
          <a:lstStyle>
            <a:lvl1pPr algn="l">
              <a:defRPr sz="2200" b="1">
                <a:latin typeface="Myriad Pro" pitchFamily="34" charset="0"/>
              </a:defRPr>
            </a:lvl1pPr>
          </a:lstStyle>
          <a:p>
            <a:r>
              <a:rPr lang="en-US" dirty="0"/>
              <a:t>Click to edit Master title style</a:t>
            </a:r>
          </a:p>
        </p:txBody>
      </p:sp>
      <p:sp>
        <p:nvSpPr>
          <p:cNvPr id="8" name="Content Placeholder 2"/>
          <p:cNvSpPr>
            <a:spLocks noGrp="1"/>
          </p:cNvSpPr>
          <p:nvPr>
            <p:ph idx="1"/>
          </p:nvPr>
        </p:nvSpPr>
        <p:spPr>
          <a:xfrm>
            <a:off x="457200" y="1676400"/>
            <a:ext cx="9052560" cy="5820305"/>
          </a:xfrm>
          <a:prstGeom prst="rect">
            <a:avLst/>
          </a:prstGeom>
        </p:spPr>
        <p:txBody>
          <a:bodyPr/>
          <a:lstStyle>
            <a:lvl1pPr>
              <a:buNone/>
              <a:defRPr sz="1400" b="1" i="1">
                <a:latin typeface="Myriad Pro" pitchFamily="34" charset="0"/>
              </a:defRPr>
            </a:lvl1pPr>
            <a:lvl2pPr marL="316614" indent="-249400">
              <a:buFont typeface="Wingdings" pitchFamily="2" charset="2"/>
              <a:buChar char="§"/>
              <a:defRPr sz="1400">
                <a:latin typeface="Myriad Pro" pitchFamily="34" charset="0"/>
              </a:defRPr>
            </a:lvl2pPr>
            <a:lvl3pPr marL="509412" indent="-192799">
              <a:buSzPct val="50000"/>
              <a:buFont typeface="Wingdings" pitchFamily="2" charset="2"/>
              <a:buChar char="q"/>
              <a:defRPr sz="1400">
                <a:latin typeface="Myriad Pro" pitchFamily="34" charset="0"/>
              </a:defRPr>
            </a:lvl3pPr>
            <a:lvl4pPr marL="769425" indent="-260013">
              <a:buFont typeface="Courier New" pitchFamily="49" charset="0"/>
              <a:buChar char="o"/>
              <a:defRPr sz="1400">
                <a:latin typeface="Myriad Pro" pitchFamily="34" charset="0"/>
              </a:defRPr>
            </a:lvl4pPr>
            <a:lvl5pPr marL="1018824" indent="-249400">
              <a:buFont typeface="Calibri" pitchFamily="34" charset="0"/>
              <a:buChar char="–"/>
              <a:defRPr sz="1400">
                <a:latin typeface="Myriad Pro"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6" name="Picture 5" descr="GH_logo_LLC.jpg"/>
          <p:cNvPicPr>
            <a:picLocks noChangeAspect="1"/>
          </p:cNvPicPr>
          <p:nvPr userDrawn="1"/>
        </p:nvPicPr>
        <p:blipFill>
          <a:blip r:embed="rId2" cstate="print"/>
          <a:stretch>
            <a:fillRect/>
          </a:stretch>
        </p:blipFill>
        <p:spPr>
          <a:xfrm>
            <a:off x="438912" y="7150608"/>
            <a:ext cx="2328206" cy="429768"/>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cxnSp>
        <p:nvCxnSpPr>
          <p:cNvPr id="4" name="Straight Connector 3"/>
          <p:cNvCxnSpPr/>
          <p:nvPr userDrawn="1"/>
        </p:nvCxnSpPr>
        <p:spPr>
          <a:xfrm>
            <a:off x="457200" y="1066800"/>
            <a:ext cx="90678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Picture 7" descr="GH_logo.wmf"/>
          <p:cNvPicPr>
            <a:picLocks noChangeAspect="1"/>
          </p:cNvPicPr>
          <p:nvPr userDrawn="1"/>
        </p:nvPicPr>
        <p:blipFill>
          <a:blip r:embed="rId2" cstate="print"/>
          <a:srcRect/>
          <a:stretch>
            <a:fillRect/>
          </a:stretch>
        </p:blipFill>
        <p:spPr bwMode="auto">
          <a:xfrm>
            <a:off x="354013" y="7162800"/>
            <a:ext cx="2268537" cy="419100"/>
          </a:xfrm>
          <a:prstGeom prst="rect">
            <a:avLst/>
          </a:prstGeom>
          <a:noFill/>
          <a:ln w="9525">
            <a:noFill/>
            <a:miter lim="800000"/>
            <a:headEnd/>
            <a:tailEnd/>
          </a:ln>
        </p:spPr>
      </p:pic>
      <p:sp>
        <p:nvSpPr>
          <p:cNvPr id="7" name="Content Placeholder 2"/>
          <p:cNvSpPr>
            <a:spLocks noGrp="1"/>
          </p:cNvSpPr>
          <p:nvPr>
            <p:ph idx="1"/>
          </p:nvPr>
        </p:nvSpPr>
        <p:spPr>
          <a:xfrm>
            <a:off x="457200" y="1676400"/>
            <a:ext cx="9052560" cy="5820305"/>
          </a:xfrm>
          <a:prstGeom prst="rect">
            <a:avLst/>
          </a:prstGeom>
        </p:spPr>
        <p:txBody>
          <a:bodyPr/>
          <a:lstStyle>
            <a:lvl1pPr>
              <a:buNone/>
              <a:defRPr sz="1400" b="1" i="1">
                <a:latin typeface="Myriad Pro" pitchFamily="34" charset="0"/>
              </a:defRPr>
            </a:lvl1pPr>
            <a:lvl2pPr marL="316614" indent="-249400">
              <a:buFont typeface="Wingdings" pitchFamily="2" charset="2"/>
              <a:buChar char="§"/>
              <a:defRPr sz="1400">
                <a:latin typeface="Myriad Pro" pitchFamily="34" charset="0"/>
              </a:defRPr>
            </a:lvl2pPr>
            <a:lvl3pPr marL="509412" indent="-192799">
              <a:buSzPct val="50000"/>
              <a:buFont typeface="Wingdings" pitchFamily="2" charset="2"/>
              <a:buChar char="q"/>
              <a:defRPr sz="1400">
                <a:latin typeface="Myriad Pro" pitchFamily="34" charset="0"/>
              </a:defRPr>
            </a:lvl3pPr>
            <a:lvl4pPr marL="769425" indent="-260013">
              <a:buFont typeface="Courier New" pitchFamily="49" charset="0"/>
              <a:buChar char="o"/>
              <a:defRPr sz="1400">
                <a:latin typeface="Myriad Pro" pitchFamily="34" charset="0"/>
              </a:defRPr>
            </a:lvl4pPr>
            <a:lvl5pPr marL="1018824" indent="-249400">
              <a:buFont typeface="Calibri" pitchFamily="34" charset="0"/>
              <a:buChar char="–"/>
              <a:defRPr sz="1400">
                <a:latin typeface="Myriad Pro"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p:cNvSpPr>
            <a:spLocks noGrp="1"/>
          </p:cNvSpPr>
          <p:nvPr>
            <p:ph type="title"/>
          </p:nvPr>
        </p:nvSpPr>
        <p:spPr>
          <a:xfrm>
            <a:off x="457200" y="457200"/>
            <a:ext cx="9052560" cy="609600"/>
          </a:xfrm>
          <a:prstGeom prst="rect">
            <a:avLst/>
          </a:prstGeom>
        </p:spPr>
        <p:txBody>
          <a:bodyPr/>
          <a:lstStyle>
            <a:lvl1pPr algn="l">
              <a:defRPr sz="2200" b="1">
                <a:latin typeface="Myriad Pro" pitchFamily="34" charset="0"/>
              </a:defRPr>
            </a:lvl1pPr>
          </a:lstStyle>
          <a:p>
            <a:r>
              <a:rPr lang="en-US" dirty="0"/>
              <a:t>Click to edit Master title style</a:t>
            </a: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4062" r:id="rId1"/>
    <p:sldLayoutId id="2147484063" r:id="rId2"/>
    <p:sldLayoutId id="2147484061" r:id="rId3"/>
    <p:sldLayoutId id="2147484065" r:id="rId4"/>
    <p:sldLayoutId id="2147484066" r:id="rId5"/>
    <p:sldLayoutId id="2147484067" r:id="rId6"/>
  </p:sldLayoutIdLst>
  <p:txStyles>
    <p:titleStyle>
      <a:lvl1pPr algn="l" rtl="0" eaLnBrk="0" fontAlgn="base" hangingPunct="0">
        <a:spcBef>
          <a:spcPct val="0"/>
        </a:spcBef>
        <a:spcAft>
          <a:spcPct val="0"/>
        </a:spcAft>
        <a:defRPr sz="2200" b="1" kern="1200">
          <a:solidFill>
            <a:schemeClr val="tx1"/>
          </a:solidFill>
          <a:latin typeface="Myriad Pro" pitchFamily="34" charset="0"/>
          <a:ea typeface="+mj-ea"/>
          <a:cs typeface="+mj-cs"/>
        </a:defRPr>
      </a:lvl1pPr>
      <a:lvl2pPr algn="l" rtl="0" eaLnBrk="0" fontAlgn="base" hangingPunct="0">
        <a:spcBef>
          <a:spcPct val="0"/>
        </a:spcBef>
        <a:spcAft>
          <a:spcPct val="0"/>
        </a:spcAft>
        <a:defRPr sz="2200" b="1">
          <a:solidFill>
            <a:schemeClr val="tx1"/>
          </a:solidFill>
          <a:latin typeface="Myriad Pro" pitchFamily="34" charset="0"/>
        </a:defRPr>
      </a:lvl2pPr>
      <a:lvl3pPr algn="l" rtl="0" eaLnBrk="0" fontAlgn="base" hangingPunct="0">
        <a:spcBef>
          <a:spcPct val="0"/>
        </a:spcBef>
        <a:spcAft>
          <a:spcPct val="0"/>
        </a:spcAft>
        <a:defRPr sz="2200" b="1">
          <a:solidFill>
            <a:schemeClr val="tx1"/>
          </a:solidFill>
          <a:latin typeface="Myriad Pro" pitchFamily="34" charset="0"/>
        </a:defRPr>
      </a:lvl3pPr>
      <a:lvl4pPr algn="l" rtl="0" eaLnBrk="0" fontAlgn="base" hangingPunct="0">
        <a:spcBef>
          <a:spcPct val="0"/>
        </a:spcBef>
        <a:spcAft>
          <a:spcPct val="0"/>
        </a:spcAft>
        <a:defRPr sz="2200" b="1">
          <a:solidFill>
            <a:schemeClr val="tx1"/>
          </a:solidFill>
          <a:latin typeface="Myriad Pro" pitchFamily="34" charset="0"/>
        </a:defRPr>
      </a:lvl4pPr>
      <a:lvl5pPr algn="l" rtl="0" eaLnBrk="0" fontAlgn="base" hangingPunct="0">
        <a:spcBef>
          <a:spcPct val="0"/>
        </a:spcBef>
        <a:spcAft>
          <a:spcPct val="0"/>
        </a:spcAft>
        <a:defRPr sz="2200" b="1">
          <a:solidFill>
            <a:schemeClr val="tx1"/>
          </a:solidFill>
          <a:latin typeface="Myriad Pro" pitchFamily="34" charset="0"/>
        </a:defRPr>
      </a:lvl5pPr>
      <a:lvl6pPr marL="509412" algn="ctr" rtl="0" fontAlgn="base">
        <a:spcBef>
          <a:spcPct val="0"/>
        </a:spcBef>
        <a:spcAft>
          <a:spcPct val="0"/>
        </a:spcAft>
        <a:defRPr sz="4900">
          <a:solidFill>
            <a:schemeClr val="tx1"/>
          </a:solidFill>
          <a:latin typeface="Calibri" pitchFamily="34" charset="0"/>
        </a:defRPr>
      </a:lvl6pPr>
      <a:lvl7pPr marL="1018824" algn="ctr" rtl="0" fontAlgn="base">
        <a:spcBef>
          <a:spcPct val="0"/>
        </a:spcBef>
        <a:spcAft>
          <a:spcPct val="0"/>
        </a:spcAft>
        <a:defRPr sz="4900">
          <a:solidFill>
            <a:schemeClr val="tx1"/>
          </a:solidFill>
          <a:latin typeface="Calibri" pitchFamily="34" charset="0"/>
        </a:defRPr>
      </a:lvl7pPr>
      <a:lvl8pPr marL="1528237" algn="ctr" rtl="0" fontAlgn="base">
        <a:spcBef>
          <a:spcPct val="0"/>
        </a:spcBef>
        <a:spcAft>
          <a:spcPct val="0"/>
        </a:spcAft>
        <a:defRPr sz="4900">
          <a:solidFill>
            <a:schemeClr val="tx1"/>
          </a:solidFill>
          <a:latin typeface="Calibri" pitchFamily="34" charset="0"/>
        </a:defRPr>
      </a:lvl8pPr>
      <a:lvl9pPr marL="2037649" algn="ctr" rtl="0" fontAlgn="base">
        <a:spcBef>
          <a:spcPct val="0"/>
        </a:spcBef>
        <a:spcAft>
          <a:spcPct val="0"/>
        </a:spcAft>
        <a:defRPr sz="4900">
          <a:solidFill>
            <a:schemeClr val="tx1"/>
          </a:solidFill>
          <a:latin typeface="Calibri" pitchFamily="34" charset="0"/>
        </a:defRPr>
      </a:lvl9pPr>
    </p:titleStyle>
    <p:bodyStyle>
      <a:lvl1pPr marL="381000" indent="-381000" algn="l" rtl="0" eaLnBrk="0" fontAlgn="base" hangingPunct="0">
        <a:spcBef>
          <a:spcPct val="20000"/>
        </a:spcBef>
        <a:spcAft>
          <a:spcPct val="0"/>
        </a:spcAft>
        <a:buFont typeface="Arial" charset="0"/>
        <a:buChar char="•"/>
        <a:defRPr sz="1400" kern="1200">
          <a:solidFill>
            <a:schemeClr val="tx1"/>
          </a:solidFill>
          <a:latin typeface="Myriad Pro" pitchFamily="34" charset="0"/>
          <a:ea typeface="+mn-ea"/>
          <a:cs typeface="+mn-cs"/>
        </a:defRPr>
      </a:lvl1pPr>
      <a:lvl2pPr marL="827088" indent="-317500" algn="l" rtl="0" eaLnBrk="0" fontAlgn="base" hangingPunct="0">
        <a:spcBef>
          <a:spcPct val="20000"/>
        </a:spcBef>
        <a:spcAft>
          <a:spcPct val="0"/>
        </a:spcAft>
        <a:buFont typeface="Arial" charset="0"/>
        <a:buChar char="–"/>
        <a:defRPr sz="1400" kern="1200">
          <a:solidFill>
            <a:schemeClr val="tx1"/>
          </a:solidFill>
          <a:latin typeface="Myriad Pro" pitchFamily="34" charset="0"/>
          <a:ea typeface="+mn-ea"/>
          <a:cs typeface="+mn-cs"/>
        </a:defRPr>
      </a:lvl2pPr>
      <a:lvl3pPr marL="1273175" indent="-254000" algn="l" rtl="0" eaLnBrk="0" fontAlgn="base" hangingPunct="0">
        <a:spcBef>
          <a:spcPct val="20000"/>
        </a:spcBef>
        <a:spcAft>
          <a:spcPct val="0"/>
        </a:spcAft>
        <a:buFont typeface="Arial" charset="0"/>
        <a:buChar char="•"/>
        <a:defRPr sz="1400" kern="1200">
          <a:solidFill>
            <a:schemeClr val="tx1"/>
          </a:solidFill>
          <a:latin typeface="Myriad Pro" pitchFamily="34" charset="0"/>
          <a:ea typeface="+mn-ea"/>
          <a:cs typeface="+mn-cs"/>
        </a:defRPr>
      </a:lvl3pPr>
      <a:lvl4pPr marL="1782763" indent="-254000" algn="l" rtl="0" eaLnBrk="0" fontAlgn="base" hangingPunct="0">
        <a:spcBef>
          <a:spcPct val="20000"/>
        </a:spcBef>
        <a:spcAft>
          <a:spcPct val="0"/>
        </a:spcAft>
        <a:buFont typeface="Arial" charset="0"/>
        <a:buChar char="–"/>
        <a:defRPr sz="1400" kern="1200">
          <a:solidFill>
            <a:schemeClr val="tx1"/>
          </a:solidFill>
          <a:latin typeface="Myriad Pro" pitchFamily="34" charset="0"/>
          <a:ea typeface="+mn-ea"/>
          <a:cs typeface="+mn-cs"/>
        </a:defRPr>
      </a:lvl4pPr>
      <a:lvl5pPr marL="2292350" indent="-254000" algn="l" rtl="0" eaLnBrk="0" fontAlgn="base" hangingPunct="0">
        <a:spcBef>
          <a:spcPct val="20000"/>
        </a:spcBef>
        <a:spcAft>
          <a:spcPct val="0"/>
        </a:spcAft>
        <a:buFont typeface="Arial" charset="0"/>
        <a:buChar char="»"/>
        <a:defRPr sz="1400" kern="1200">
          <a:solidFill>
            <a:schemeClr val="tx1"/>
          </a:solidFill>
          <a:latin typeface="Myriad Pro" pitchFamily="34" charset="0"/>
          <a:ea typeface="+mn-ea"/>
          <a:cs typeface="+mn-cs"/>
        </a:defRPr>
      </a:lvl5pPr>
      <a:lvl6pPr marL="2801767" indent="-254706" algn="l" defTabSz="1018824" rtl="0" eaLnBrk="1" latinLnBrk="0" hangingPunct="1">
        <a:spcBef>
          <a:spcPct val="20000"/>
        </a:spcBef>
        <a:buFont typeface="Arial" pitchFamily="34" charset="0"/>
        <a:buChar char="•"/>
        <a:defRPr sz="2200" kern="1200">
          <a:solidFill>
            <a:schemeClr val="tx1"/>
          </a:solidFill>
          <a:latin typeface="+mn-lt"/>
          <a:ea typeface="+mn-ea"/>
          <a:cs typeface="+mn-cs"/>
        </a:defRPr>
      </a:lvl6pPr>
      <a:lvl7pPr marL="3311180" indent="-254706" algn="l" defTabSz="1018824" rtl="0" eaLnBrk="1" latinLnBrk="0" hangingPunct="1">
        <a:spcBef>
          <a:spcPct val="20000"/>
        </a:spcBef>
        <a:buFont typeface="Arial" pitchFamily="34" charset="0"/>
        <a:buChar char="•"/>
        <a:defRPr sz="2200" kern="1200">
          <a:solidFill>
            <a:schemeClr val="tx1"/>
          </a:solidFill>
          <a:latin typeface="+mn-lt"/>
          <a:ea typeface="+mn-ea"/>
          <a:cs typeface="+mn-cs"/>
        </a:defRPr>
      </a:lvl7pPr>
      <a:lvl8pPr marL="3820592" indent="-254706" algn="l" defTabSz="1018824" rtl="0" eaLnBrk="1" latinLnBrk="0" hangingPunct="1">
        <a:spcBef>
          <a:spcPct val="20000"/>
        </a:spcBef>
        <a:buFont typeface="Arial" pitchFamily="34" charset="0"/>
        <a:buChar char="•"/>
        <a:defRPr sz="2200" kern="1200">
          <a:solidFill>
            <a:schemeClr val="tx1"/>
          </a:solidFill>
          <a:latin typeface="+mn-lt"/>
          <a:ea typeface="+mn-ea"/>
          <a:cs typeface="+mn-cs"/>
        </a:defRPr>
      </a:lvl8pPr>
      <a:lvl9pPr marL="4330004" indent="-254706" algn="l" defTabSz="1018824" rtl="0" eaLnBrk="1" latinLnBrk="0" hangingPunct="1">
        <a:spcBef>
          <a:spcPct val="20000"/>
        </a:spcBef>
        <a:buFont typeface="Arial" pitchFamily="34" charset="0"/>
        <a:buChar char="•"/>
        <a:defRPr sz="2200" kern="1200">
          <a:solidFill>
            <a:schemeClr val="tx1"/>
          </a:solidFill>
          <a:latin typeface="+mn-lt"/>
          <a:ea typeface="+mn-ea"/>
          <a:cs typeface="+mn-cs"/>
        </a:defRPr>
      </a:lvl9pPr>
    </p:bodyStyle>
    <p:otherStyle>
      <a:defPPr>
        <a:defRPr lang="en-US"/>
      </a:defPPr>
      <a:lvl1pPr marL="0" algn="l" defTabSz="1018824" rtl="0" eaLnBrk="1" latinLnBrk="0" hangingPunct="1">
        <a:defRPr sz="2000" kern="1200">
          <a:solidFill>
            <a:schemeClr val="tx1"/>
          </a:solidFill>
          <a:latin typeface="+mn-lt"/>
          <a:ea typeface="+mn-ea"/>
          <a:cs typeface="+mn-cs"/>
        </a:defRPr>
      </a:lvl1pPr>
      <a:lvl2pPr marL="509412" algn="l" defTabSz="1018824" rtl="0" eaLnBrk="1" latinLnBrk="0" hangingPunct="1">
        <a:defRPr sz="2000" kern="1200">
          <a:solidFill>
            <a:schemeClr val="tx1"/>
          </a:solidFill>
          <a:latin typeface="+mn-lt"/>
          <a:ea typeface="+mn-ea"/>
          <a:cs typeface="+mn-cs"/>
        </a:defRPr>
      </a:lvl2pPr>
      <a:lvl3pPr marL="1018824" algn="l" defTabSz="1018824" rtl="0" eaLnBrk="1" latinLnBrk="0" hangingPunct="1">
        <a:defRPr sz="2000" kern="1200">
          <a:solidFill>
            <a:schemeClr val="tx1"/>
          </a:solidFill>
          <a:latin typeface="+mn-lt"/>
          <a:ea typeface="+mn-ea"/>
          <a:cs typeface="+mn-cs"/>
        </a:defRPr>
      </a:lvl3pPr>
      <a:lvl4pPr marL="1528237" algn="l" defTabSz="1018824" rtl="0" eaLnBrk="1" latinLnBrk="0" hangingPunct="1">
        <a:defRPr sz="2000" kern="1200">
          <a:solidFill>
            <a:schemeClr val="tx1"/>
          </a:solidFill>
          <a:latin typeface="+mn-lt"/>
          <a:ea typeface="+mn-ea"/>
          <a:cs typeface="+mn-cs"/>
        </a:defRPr>
      </a:lvl4pPr>
      <a:lvl5pPr marL="2037649" algn="l" defTabSz="1018824" rtl="0" eaLnBrk="1" latinLnBrk="0" hangingPunct="1">
        <a:defRPr sz="2000" kern="1200">
          <a:solidFill>
            <a:schemeClr val="tx1"/>
          </a:solidFill>
          <a:latin typeface="+mn-lt"/>
          <a:ea typeface="+mn-ea"/>
          <a:cs typeface="+mn-cs"/>
        </a:defRPr>
      </a:lvl5pPr>
      <a:lvl6pPr marL="2547061" algn="l" defTabSz="1018824" rtl="0" eaLnBrk="1" latinLnBrk="0" hangingPunct="1">
        <a:defRPr sz="2000" kern="1200">
          <a:solidFill>
            <a:schemeClr val="tx1"/>
          </a:solidFill>
          <a:latin typeface="+mn-lt"/>
          <a:ea typeface="+mn-ea"/>
          <a:cs typeface="+mn-cs"/>
        </a:defRPr>
      </a:lvl6pPr>
      <a:lvl7pPr marL="3056473" algn="l" defTabSz="1018824" rtl="0" eaLnBrk="1" latinLnBrk="0" hangingPunct="1">
        <a:defRPr sz="2000" kern="1200">
          <a:solidFill>
            <a:schemeClr val="tx1"/>
          </a:solidFill>
          <a:latin typeface="+mn-lt"/>
          <a:ea typeface="+mn-ea"/>
          <a:cs typeface="+mn-cs"/>
        </a:defRPr>
      </a:lvl7pPr>
      <a:lvl8pPr marL="3565886" algn="l" defTabSz="1018824" rtl="0" eaLnBrk="1" latinLnBrk="0" hangingPunct="1">
        <a:defRPr sz="2000" kern="1200">
          <a:solidFill>
            <a:schemeClr val="tx1"/>
          </a:solidFill>
          <a:latin typeface="+mn-lt"/>
          <a:ea typeface="+mn-ea"/>
          <a:cs typeface="+mn-cs"/>
        </a:defRPr>
      </a:lvl8pPr>
      <a:lvl9pPr marL="4075298" algn="l" defTabSz="1018824" rtl="0" eaLnBrk="1" latinLnBrk="0" hangingPunct="1">
        <a:defRPr sz="20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gi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gi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gi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gi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gi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ctrTitle"/>
          </p:nvPr>
        </p:nvSpPr>
        <p:spPr bwMode="auto">
          <a:xfrm>
            <a:off x="838200" y="5334000"/>
            <a:ext cx="6629400" cy="1143000"/>
          </a:xfrm>
          <a:noFill/>
          <a:ln>
            <a:miter lim="800000"/>
            <a:headEnd/>
            <a:tailEnd/>
          </a:ln>
        </p:spPr>
        <p:txBody>
          <a:bodyPr vert="horz" wrap="square" lIns="0" tIns="45720" rIns="0" bIns="45720" numCol="1" anchor="t" anchorCtr="0" compatLnSpc="1">
            <a:prstTxWarp prst="textNoShape">
              <a:avLst/>
            </a:prstTxWarp>
            <a:normAutofit fontScale="90000"/>
          </a:bodyPr>
          <a:lstStyle/>
          <a:p>
            <a:pPr eaLnBrk="1" hangingPunct="1"/>
            <a:br>
              <a:rPr lang="en-US" sz="2700" dirty="0">
                <a:solidFill>
                  <a:srgbClr val="1F497D"/>
                </a:solidFill>
              </a:rPr>
            </a:br>
            <a:r>
              <a:rPr lang="en-US" sz="2200" dirty="0">
                <a:solidFill>
                  <a:srgbClr val="1F497D"/>
                </a:solidFill>
              </a:rPr>
              <a:t>Franchise Index Research Summary</a:t>
            </a:r>
            <a:br>
              <a:rPr lang="en-US" sz="2700" dirty="0">
                <a:solidFill>
                  <a:srgbClr val="1F497D"/>
                </a:solidFill>
              </a:rPr>
            </a:br>
            <a:r>
              <a:rPr lang="en-US" sz="1300" dirty="0">
                <a:solidFill>
                  <a:srgbClr val="1F497D"/>
                </a:solidFill>
              </a:rPr>
              <a:t> </a:t>
            </a:r>
            <a:br>
              <a:rPr lang="en-US" b="0" dirty="0"/>
            </a:br>
            <a:br>
              <a:rPr lang="en-US" dirty="0">
                <a:solidFill>
                  <a:srgbClr val="1F497D"/>
                </a:solidFill>
              </a:rPr>
            </a:br>
            <a:br>
              <a:rPr lang="en-US" dirty="0">
                <a:solidFill>
                  <a:srgbClr val="1F497D"/>
                </a:solidFill>
              </a:rPr>
            </a:br>
            <a:br>
              <a:rPr lang="en-US" dirty="0">
                <a:solidFill>
                  <a:srgbClr val="1F497D"/>
                </a:solidFill>
              </a:rPr>
            </a:br>
            <a:br>
              <a:rPr lang="en-US" sz="1400" dirty="0"/>
            </a:br>
            <a:br>
              <a:rPr lang="en-US" sz="1400" dirty="0"/>
            </a:br>
            <a:r>
              <a:rPr lang="en-US" sz="1400" dirty="0"/>
              <a:t>  </a:t>
            </a:r>
            <a:br>
              <a:rPr lang="en-US" dirty="0">
                <a:solidFill>
                  <a:srgbClr val="1F497D"/>
                </a:solidFill>
              </a:rPr>
            </a:br>
            <a:br>
              <a:rPr lang="en-US" dirty="0">
                <a:solidFill>
                  <a:srgbClr val="1F497D"/>
                </a:solidFill>
              </a:rPr>
            </a:br>
            <a:br>
              <a:rPr lang="en-US" dirty="0">
                <a:solidFill>
                  <a:srgbClr val="1F497D"/>
                </a:solidFill>
              </a:rPr>
            </a:br>
            <a:br>
              <a:rPr lang="en-US" dirty="0">
                <a:solidFill>
                  <a:srgbClr val="1F497D"/>
                </a:solidFill>
              </a:rPr>
            </a:br>
            <a:br>
              <a:rPr lang="en-US" dirty="0">
                <a:solidFill>
                  <a:srgbClr val="1F497D"/>
                </a:solidFill>
              </a:rPr>
            </a:br>
            <a:br>
              <a:rPr lang="en-US" dirty="0">
                <a:solidFill>
                  <a:srgbClr val="1F497D"/>
                </a:solidFill>
              </a:rPr>
            </a:br>
            <a:endParaRPr lang="en-US" dirty="0">
              <a:solidFill>
                <a:srgbClr val="1F497D"/>
              </a:solidFill>
            </a:endParaRPr>
          </a:p>
        </p:txBody>
      </p:sp>
      <p:sp>
        <p:nvSpPr>
          <p:cNvPr id="2" name="Subtitle 1"/>
          <p:cNvSpPr>
            <a:spLocks noGrp="1"/>
          </p:cNvSpPr>
          <p:nvPr>
            <p:ph type="subTitle" idx="1"/>
          </p:nvPr>
        </p:nvSpPr>
        <p:spPr>
          <a:xfrm>
            <a:off x="838200" y="6477000"/>
            <a:ext cx="2263140" cy="609600"/>
          </a:xfrm>
        </p:spPr>
        <p:txBody>
          <a:bodyPr>
            <a:normAutofit/>
          </a:bodyPr>
          <a:lstStyle/>
          <a:p>
            <a:r>
              <a:rPr lang="en-US" b="1" dirty="0"/>
              <a:t>February 2018</a:t>
            </a:r>
          </a:p>
        </p:txBody>
      </p:sp>
      <p:sp>
        <p:nvSpPr>
          <p:cNvPr id="5" name="Rectangle 4"/>
          <p:cNvSpPr/>
          <p:nvPr/>
        </p:nvSpPr>
        <p:spPr>
          <a:xfrm>
            <a:off x="4313" y="7338204"/>
            <a:ext cx="10058400" cy="43563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Picture 7" descr="Index Cover Art.png"/>
          <p:cNvPicPr>
            <a:picLocks noChangeAspect="1"/>
          </p:cNvPicPr>
          <p:nvPr/>
        </p:nvPicPr>
        <p:blipFill>
          <a:blip r:embed="rId3" cstate="print"/>
          <a:srcRect r="28172"/>
          <a:stretch>
            <a:fillRect/>
          </a:stretch>
        </p:blipFill>
        <p:spPr>
          <a:xfrm>
            <a:off x="0" y="1752600"/>
            <a:ext cx="10058400" cy="3581400"/>
          </a:xfrm>
          <a:prstGeom prst="rect">
            <a:avLst/>
          </a:prstGeom>
        </p:spPr>
      </p:pic>
      <p:sp>
        <p:nvSpPr>
          <p:cNvPr id="7" name="TextBox 6"/>
          <p:cNvSpPr txBox="1"/>
          <p:nvPr/>
        </p:nvSpPr>
        <p:spPr>
          <a:xfrm>
            <a:off x="7252725" y="5697408"/>
            <a:ext cx="2768707" cy="1815882"/>
          </a:xfrm>
          <a:prstGeom prst="rect">
            <a:avLst/>
          </a:prstGeom>
          <a:noFill/>
        </p:spPr>
        <p:txBody>
          <a:bodyPr wrap="square" rtlCol="0">
            <a:spAutoFit/>
          </a:bodyPr>
          <a:lstStyle/>
          <a:p>
            <a:r>
              <a:rPr lang="en-US" sz="1200" b="1" dirty="0">
                <a:solidFill>
                  <a:schemeClr val="tx2"/>
                </a:solidFill>
                <a:latin typeface="Arial Narrow" pitchFamily="34" charset="0"/>
              </a:rPr>
              <a:t>OFFICE</a:t>
            </a:r>
            <a:r>
              <a:rPr lang="en-US" sz="1600" dirty="0">
                <a:solidFill>
                  <a:schemeClr val="tx2"/>
                </a:solidFill>
                <a:latin typeface="Arial Narrow" pitchFamily="34" charset="0"/>
              </a:rPr>
              <a:t>      858.935.6041</a:t>
            </a:r>
          </a:p>
          <a:p>
            <a:r>
              <a:rPr lang="en-US" sz="1200" b="1" dirty="0">
                <a:solidFill>
                  <a:schemeClr val="tx2"/>
                </a:solidFill>
                <a:latin typeface="Arial Narrow" pitchFamily="34" charset="0"/>
              </a:rPr>
              <a:t>DIRECT </a:t>
            </a:r>
            <a:r>
              <a:rPr lang="en-US" sz="1600" dirty="0">
                <a:solidFill>
                  <a:schemeClr val="tx2"/>
                </a:solidFill>
                <a:latin typeface="Arial Narrow" pitchFamily="34" charset="0"/>
              </a:rPr>
              <a:t>     858.461.8183</a:t>
            </a:r>
          </a:p>
          <a:p>
            <a:r>
              <a:rPr lang="en-US" sz="1200" b="1" dirty="0">
                <a:solidFill>
                  <a:schemeClr val="tx2"/>
                </a:solidFill>
                <a:latin typeface="Arial Narrow" pitchFamily="34" charset="0"/>
              </a:rPr>
              <a:t>MOBILE</a:t>
            </a:r>
            <a:r>
              <a:rPr lang="en-US" sz="1200" dirty="0">
                <a:solidFill>
                  <a:schemeClr val="tx2"/>
                </a:solidFill>
                <a:latin typeface="Arial Narrow" pitchFamily="34" charset="0"/>
              </a:rPr>
              <a:t>       </a:t>
            </a:r>
            <a:r>
              <a:rPr lang="en-US" sz="1600" dirty="0">
                <a:solidFill>
                  <a:schemeClr val="tx2"/>
                </a:solidFill>
                <a:latin typeface="Arial Narrow" pitchFamily="34" charset="0"/>
              </a:rPr>
              <a:t>619.838.8533</a:t>
            </a:r>
          </a:p>
          <a:p>
            <a:r>
              <a:rPr lang="en-US" sz="1200" b="1" dirty="0">
                <a:solidFill>
                  <a:schemeClr val="tx2"/>
                </a:solidFill>
                <a:latin typeface="Arial Narrow" pitchFamily="34" charset="0"/>
              </a:rPr>
              <a:t>EMAIL  </a:t>
            </a:r>
            <a:r>
              <a:rPr lang="en-US" sz="1600" dirty="0">
                <a:solidFill>
                  <a:schemeClr val="tx2"/>
                </a:solidFill>
                <a:latin typeface="Arial Narrow" pitchFamily="34" charset="0"/>
              </a:rPr>
              <a:t>      info@eqmindexes.com</a:t>
            </a:r>
          </a:p>
          <a:p>
            <a:r>
              <a:rPr lang="en-US" sz="1200" b="1" dirty="0">
                <a:solidFill>
                  <a:schemeClr val="tx2"/>
                </a:solidFill>
                <a:latin typeface="Arial Narrow" pitchFamily="34" charset="0"/>
              </a:rPr>
              <a:t>WEB  </a:t>
            </a:r>
            <a:r>
              <a:rPr lang="en-US" sz="1600" dirty="0">
                <a:solidFill>
                  <a:schemeClr val="tx2"/>
                </a:solidFill>
                <a:latin typeface="Arial Narrow" pitchFamily="34" charset="0"/>
              </a:rPr>
              <a:t>        eqmindexes.com</a:t>
            </a:r>
          </a:p>
          <a:p>
            <a:r>
              <a:rPr lang="en-US" sz="1200" b="1" dirty="0">
                <a:solidFill>
                  <a:schemeClr val="tx2"/>
                </a:solidFill>
                <a:latin typeface="Arial Narrow" pitchFamily="34" charset="0"/>
              </a:rPr>
              <a:t>TWITTER  </a:t>
            </a:r>
            <a:r>
              <a:rPr lang="en-US" sz="1600" dirty="0">
                <a:solidFill>
                  <a:schemeClr val="tx2"/>
                </a:solidFill>
                <a:latin typeface="Arial Narrow" pitchFamily="34" charset="0"/>
              </a:rPr>
              <a:t>  @</a:t>
            </a:r>
            <a:r>
              <a:rPr lang="en-US" sz="1600" dirty="0" err="1">
                <a:solidFill>
                  <a:schemeClr val="tx2"/>
                </a:solidFill>
                <a:latin typeface="Arial Narrow" pitchFamily="34" charset="0"/>
              </a:rPr>
              <a:t>eqmindexes</a:t>
            </a:r>
            <a:endParaRPr lang="en-US" sz="1600" dirty="0">
              <a:solidFill>
                <a:schemeClr val="tx2"/>
              </a:solidFill>
              <a:latin typeface="Arial Narrow" pitchFamily="34" charset="0"/>
            </a:endParaRPr>
          </a:p>
          <a:p>
            <a:endParaRPr lang="en-US" sz="1600" dirty="0">
              <a:solidFill>
                <a:schemeClr val="tx2"/>
              </a:solidFill>
              <a:latin typeface="Arial Narrow"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Franchise Index Screen</a:t>
            </a:r>
          </a:p>
        </p:txBody>
      </p:sp>
      <p:sp>
        <p:nvSpPr>
          <p:cNvPr id="25" name="Oval 24"/>
          <p:cNvSpPr/>
          <p:nvPr/>
        </p:nvSpPr>
        <p:spPr>
          <a:xfrm>
            <a:off x="2320380" y="3608438"/>
            <a:ext cx="803820" cy="80382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F053D568-8178-4357-A52D-66E935D6D01B}"/>
              </a:ext>
            </a:extLst>
          </p:cNvPr>
          <p:cNvSpPr txBox="1"/>
          <p:nvPr/>
        </p:nvSpPr>
        <p:spPr>
          <a:xfrm>
            <a:off x="685800" y="1600200"/>
            <a:ext cx="8763000" cy="2585323"/>
          </a:xfrm>
          <a:prstGeom prst="rect">
            <a:avLst/>
          </a:prstGeom>
          <a:noFill/>
        </p:spPr>
        <p:txBody>
          <a:bodyPr wrap="square" rtlCol="0">
            <a:spAutoFit/>
          </a:bodyPr>
          <a:lstStyle/>
          <a:p>
            <a:pPr marL="285750" indent="-285750">
              <a:buFont typeface="Arial" panose="020B0604020202020204" pitchFamily="34" charset="0"/>
              <a:buChar char="•"/>
            </a:pPr>
            <a:r>
              <a:rPr lang="en-US" dirty="0"/>
              <a:t>Universe of US and Canada Franchise Names</a:t>
            </a:r>
          </a:p>
          <a:p>
            <a:pPr marL="285750" indent="-285750">
              <a:buFont typeface="Arial" panose="020B0604020202020204" pitchFamily="34" charset="0"/>
              <a:buChar char="•"/>
            </a:pPr>
            <a:r>
              <a:rPr lang="en-US" dirty="0"/>
              <a:t>Market Cap &gt;=$100 million USD</a:t>
            </a:r>
          </a:p>
          <a:p>
            <a:pPr marL="285750" indent="-285750">
              <a:buFont typeface="Arial" panose="020B0604020202020204" pitchFamily="34" charset="0"/>
              <a:buChar char="•"/>
            </a:pPr>
            <a:r>
              <a:rPr lang="en-US" dirty="0"/>
              <a:t>Minimum Price &gt;= $3 USD</a:t>
            </a:r>
          </a:p>
          <a:p>
            <a:pPr marL="285750" indent="-285750">
              <a:buFont typeface="Arial" panose="020B0604020202020204" pitchFamily="34" charset="0"/>
              <a:buChar char="•"/>
            </a:pPr>
            <a:r>
              <a:rPr lang="en-US" dirty="0"/>
              <a:t>Turnover/Traded Value = $1m</a:t>
            </a:r>
          </a:p>
          <a:p>
            <a:pPr marL="285750" indent="-285750">
              <a:buFont typeface="Arial" panose="020B0604020202020204" pitchFamily="34" charset="0"/>
              <a:buChar char="•"/>
            </a:pPr>
            <a:endParaRPr lang="en-US" dirty="0"/>
          </a:p>
          <a:p>
            <a:r>
              <a:rPr lang="en-US" dirty="0"/>
              <a:t>Historical Screen Counts</a:t>
            </a:r>
          </a:p>
          <a:p>
            <a:endParaRPr lang="en-US" dirty="0"/>
          </a:p>
          <a:p>
            <a:endParaRPr lang="en-US" dirty="0"/>
          </a:p>
          <a:p>
            <a:endParaRPr lang="en-US" dirty="0"/>
          </a:p>
        </p:txBody>
      </p:sp>
      <p:graphicFrame>
        <p:nvGraphicFramePr>
          <p:cNvPr id="13" name="Table 12">
            <a:extLst>
              <a:ext uri="{FF2B5EF4-FFF2-40B4-BE49-F238E27FC236}">
                <a16:creationId xmlns:a16="http://schemas.microsoft.com/office/drawing/2014/main" id="{894D508D-8E18-4968-A2E5-526AB6100D92}"/>
              </a:ext>
            </a:extLst>
          </p:cNvPr>
          <p:cNvGraphicFramePr>
            <a:graphicFrameLocks noGrp="1"/>
          </p:cNvGraphicFramePr>
          <p:nvPr>
            <p:extLst>
              <p:ext uri="{D42A27DB-BD31-4B8C-83A1-F6EECF244321}">
                <p14:modId xmlns:p14="http://schemas.microsoft.com/office/powerpoint/2010/main" val="3465162398"/>
              </p:ext>
            </p:extLst>
          </p:nvPr>
        </p:nvGraphicFramePr>
        <p:xfrm>
          <a:off x="762000" y="3352800"/>
          <a:ext cx="2209800" cy="3276605"/>
        </p:xfrm>
        <a:graphic>
          <a:graphicData uri="http://schemas.openxmlformats.org/drawingml/2006/table">
            <a:tbl>
              <a:tblPr/>
              <a:tblGrid>
                <a:gridCol w="736600">
                  <a:extLst>
                    <a:ext uri="{9D8B030D-6E8A-4147-A177-3AD203B41FA5}">
                      <a16:colId xmlns:a16="http://schemas.microsoft.com/office/drawing/2014/main" val="3572323611"/>
                    </a:ext>
                  </a:extLst>
                </a:gridCol>
                <a:gridCol w="736600">
                  <a:extLst>
                    <a:ext uri="{9D8B030D-6E8A-4147-A177-3AD203B41FA5}">
                      <a16:colId xmlns:a16="http://schemas.microsoft.com/office/drawing/2014/main" val="1379187682"/>
                    </a:ext>
                  </a:extLst>
                </a:gridCol>
                <a:gridCol w="736600">
                  <a:extLst>
                    <a:ext uri="{9D8B030D-6E8A-4147-A177-3AD203B41FA5}">
                      <a16:colId xmlns:a16="http://schemas.microsoft.com/office/drawing/2014/main" val="1750506072"/>
                    </a:ext>
                  </a:extLst>
                </a:gridCol>
              </a:tblGrid>
              <a:tr h="352805">
                <a:tc>
                  <a:txBody>
                    <a:bodyPr/>
                    <a:lstStyle/>
                    <a:p>
                      <a:pPr algn="l" fontAlgn="b"/>
                      <a:r>
                        <a:rPr lang="en-US" sz="1100" b="1" i="0" u="none" strike="noStrike">
                          <a:solidFill>
                            <a:srgbClr val="FFFFFF"/>
                          </a:solidFill>
                          <a:effectLst/>
                          <a:latin typeface="Calibri" panose="020F0502020204030204" pitchFamily="34" charset="0"/>
                        </a:rPr>
                        <a:t>Date</a:t>
                      </a:r>
                    </a:p>
                  </a:txBody>
                  <a:tcPr marL="9525" marR="9525" marT="9525" marB="0" anchor="b">
                    <a:lnL>
                      <a:noFill/>
                    </a:lnL>
                    <a:lnR>
                      <a:noFill/>
                    </a:lnR>
                    <a:lnT>
                      <a:noFill/>
                    </a:lnT>
                    <a:lnB>
                      <a:noFill/>
                    </a:lnB>
                    <a:solidFill>
                      <a:srgbClr val="4F81BD"/>
                    </a:solidFill>
                  </a:tcPr>
                </a:tc>
                <a:tc>
                  <a:txBody>
                    <a:bodyPr/>
                    <a:lstStyle/>
                    <a:p>
                      <a:pPr algn="ctr" fontAlgn="b"/>
                      <a:r>
                        <a:rPr lang="en-US" sz="1100" b="1" i="0" u="none" strike="noStrike" dirty="0">
                          <a:solidFill>
                            <a:srgbClr val="FFFFFF"/>
                          </a:solidFill>
                          <a:effectLst/>
                          <a:latin typeface="Calibri" panose="020F0502020204030204" pitchFamily="34" charset="0"/>
                        </a:rPr>
                        <a:t># Names</a:t>
                      </a:r>
                    </a:p>
                  </a:txBody>
                  <a:tcPr marL="9525" marR="9525" marT="9525" marB="0" anchor="b">
                    <a:lnL>
                      <a:noFill/>
                    </a:lnL>
                    <a:lnR>
                      <a:noFill/>
                    </a:lnR>
                    <a:lnT>
                      <a:noFill/>
                    </a:lnT>
                    <a:lnB>
                      <a:noFill/>
                    </a:lnB>
                    <a:solidFill>
                      <a:srgbClr val="4F81BD"/>
                    </a:solidFill>
                  </a:tcPr>
                </a:tc>
                <a:tc>
                  <a:txBody>
                    <a:bodyPr/>
                    <a:lstStyle/>
                    <a:p>
                      <a:pPr algn="ctr" fontAlgn="b"/>
                      <a:r>
                        <a:rPr lang="en-US" sz="1100" b="1" i="0" u="none" strike="noStrike">
                          <a:solidFill>
                            <a:srgbClr val="FFFFFF"/>
                          </a:solidFill>
                          <a:effectLst/>
                          <a:latin typeface="Calibri" panose="020F0502020204030204" pitchFamily="34" charset="0"/>
                        </a:rPr>
                        <a:t>Turnover (%)</a:t>
                      </a:r>
                    </a:p>
                  </a:txBody>
                  <a:tcPr marL="9525" marR="9525" marT="9525" marB="0" anchor="b">
                    <a:lnL>
                      <a:noFill/>
                    </a:lnL>
                    <a:lnR>
                      <a:noFill/>
                    </a:lnR>
                    <a:lnT>
                      <a:noFill/>
                    </a:lnT>
                    <a:lnB>
                      <a:noFill/>
                    </a:lnB>
                    <a:solidFill>
                      <a:srgbClr val="4F81BD"/>
                    </a:solidFill>
                  </a:tcPr>
                </a:tc>
                <a:extLst>
                  <a:ext uri="{0D108BD9-81ED-4DB2-BD59-A6C34878D82A}">
                    <a16:rowId xmlns:a16="http://schemas.microsoft.com/office/drawing/2014/main" val="1337510208"/>
                  </a:ext>
                </a:extLst>
              </a:tr>
              <a:tr h="194920">
                <a:tc>
                  <a:txBody>
                    <a:bodyPr/>
                    <a:lstStyle/>
                    <a:p>
                      <a:pPr algn="l" fontAlgn="b"/>
                      <a:r>
                        <a:rPr lang="en-US" sz="1100" b="0" i="0" u="none" strike="noStrike">
                          <a:solidFill>
                            <a:srgbClr val="000000"/>
                          </a:solidFill>
                          <a:effectLst/>
                          <a:latin typeface="Calibri" panose="020F0502020204030204" pitchFamily="34" charset="0"/>
                        </a:rPr>
                        <a:t>12/31/17</a:t>
                      </a:r>
                    </a:p>
                  </a:txBody>
                  <a:tcPr marL="9525" marR="9525" marT="9525" marB="0" anchor="b">
                    <a:lnL>
                      <a:noFill/>
                    </a:lnL>
                    <a:lnR>
                      <a:noFill/>
                    </a:lnR>
                    <a:lnT>
                      <a:noFill/>
                    </a:lnT>
                    <a:lnB>
                      <a:noFill/>
                    </a:lnB>
                  </a:tcPr>
                </a:tc>
                <a:tc>
                  <a:txBody>
                    <a:bodyPr/>
                    <a:lstStyle/>
                    <a:p>
                      <a:pPr algn="ctr" fontAlgn="b"/>
                      <a:r>
                        <a:rPr lang="en-US" sz="1100" b="0" i="0" u="none" strike="noStrike" dirty="0">
                          <a:solidFill>
                            <a:srgbClr val="000000"/>
                          </a:solidFill>
                          <a:effectLst/>
                          <a:latin typeface="Calibri" panose="020F0502020204030204" pitchFamily="34" charset="0"/>
                        </a:rPr>
                        <a:t>52 </a:t>
                      </a:r>
                    </a:p>
                  </a:txBody>
                  <a:tcPr marL="9525" marR="9525" marT="9525" marB="0" anchor="b">
                    <a:lnL>
                      <a:noFill/>
                    </a:lnL>
                    <a:lnR>
                      <a:noFill/>
                    </a:lnR>
                    <a:lnT>
                      <a:noFill/>
                    </a:lnT>
                    <a:lnB>
                      <a:noFill/>
                    </a:lnB>
                  </a:tcPr>
                </a:tc>
                <a:tc>
                  <a:txBody>
                    <a:bodyPr/>
                    <a:lstStyle/>
                    <a:p>
                      <a:pPr algn="ctr" fontAlgn="b"/>
                      <a:r>
                        <a:rPr lang="en-US" sz="1100" b="0" i="0" u="none" strike="noStrike">
                          <a:solidFill>
                            <a:srgbClr val="000000"/>
                          </a:solidFill>
                          <a:effectLst/>
                          <a:latin typeface="Calibri" panose="020F0502020204030204" pitchFamily="34" charset="0"/>
                        </a:rPr>
                        <a:t>13.97 </a:t>
                      </a:r>
                    </a:p>
                  </a:txBody>
                  <a:tcPr marL="9525" marR="9525" marT="9525" marB="0" anchor="b">
                    <a:lnL>
                      <a:noFill/>
                    </a:lnL>
                    <a:lnR>
                      <a:noFill/>
                    </a:lnR>
                    <a:lnT>
                      <a:noFill/>
                    </a:lnT>
                    <a:lnB>
                      <a:noFill/>
                    </a:lnB>
                  </a:tcPr>
                </a:tc>
                <a:extLst>
                  <a:ext uri="{0D108BD9-81ED-4DB2-BD59-A6C34878D82A}">
                    <a16:rowId xmlns:a16="http://schemas.microsoft.com/office/drawing/2014/main" val="2311315331"/>
                  </a:ext>
                </a:extLst>
              </a:tr>
              <a:tr h="194920">
                <a:tc>
                  <a:txBody>
                    <a:bodyPr/>
                    <a:lstStyle/>
                    <a:p>
                      <a:pPr algn="l" fontAlgn="b"/>
                      <a:r>
                        <a:rPr lang="en-US" sz="1100" b="0" i="0" u="none" strike="noStrike">
                          <a:solidFill>
                            <a:srgbClr val="000000"/>
                          </a:solidFill>
                          <a:effectLst/>
                          <a:latin typeface="Calibri" panose="020F0502020204030204" pitchFamily="34" charset="0"/>
                        </a:rPr>
                        <a:t>06/30/17</a:t>
                      </a:r>
                    </a:p>
                  </a:txBody>
                  <a:tcPr marL="9525" marR="9525" marT="9525" marB="0" anchor="b">
                    <a:lnL>
                      <a:noFill/>
                    </a:lnL>
                    <a:lnR>
                      <a:noFill/>
                    </a:lnR>
                    <a:lnT>
                      <a:noFill/>
                    </a:lnT>
                    <a:lnB>
                      <a:noFill/>
                    </a:lnB>
                  </a:tcPr>
                </a:tc>
                <a:tc>
                  <a:txBody>
                    <a:bodyPr/>
                    <a:lstStyle/>
                    <a:p>
                      <a:pPr algn="ctr" fontAlgn="b"/>
                      <a:r>
                        <a:rPr lang="en-US" sz="1100" b="0" i="0" u="none" strike="noStrike" dirty="0">
                          <a:solidFill>
                            <a:srgbClr val="000000"/>
                          </a:solidFill>
                          <a:effectLst/>
                          <a:latin typeface="Calibri" panose="020F0502020204030204" pitchFamily="34" charset="0"/>
                        </a:rPr>
                        <a:t>53 </a:t>
                      </a:r>
                    </a:p>
                  </a:txBody>
                  <a:tcPr marL="9525" marR="9525" marT="9525" marB="0" anchor="b">
                    <a:lnL>
                      <a:noFill/>
                    </a:lnL>
                    <a:lnR>
                      <a:noFill/>
                    </a:lnR>
                    <a:lnT>
                      <a:noFill/>
                    </a:lnT>
                    <a:lnB>
                      <a:noFill/>
                    </a:lnB>
                  </a:tcPr>
                </a:tc>
                <a:tc>
                  <a:txBody>
                    <a:bodyPr/>
                    <a:lstStyle/>
                    <a:p>
                      <a:pPr algn="ctr" fontAlgn="b"/>
                      <a:r>
                        <a:rPr lang="en-US" sz="1100" b="0" i="0" u="none" strike="noStrike">
                          <a:solidFill>
                            <a:srgbClr val="000000"/>
                          </a:solidFill>
                          <a:effectLst/>
                          <a:latin typeface="Calibri" panose="020F0502020204030204" pitchFamily="34" charset="0"/>
                        </a:rPr>
                        <a:t>7.31 </a:t>
                      </a:r>
                    </a:p>
                  </a:txBody>
                  <a:tcPr marL="9525" marR="9525" marT="9525" marB="0" anchor="b">
                    <a:lnL>
                      <a:noFill/>
                    </a:lnL>
                    <a:lnR>
                      <a:noFill/>
                    </a:lnR>
                    <a:lnT>
                      <a:noFill/>
                    </a:lnT>
                    <a:lnB>
                      <a:noFill/>
                    </a:lnB>
                  </a:tcPr>
                </a:tc>
                <a:extLst>
                  <a:ext uri="{0D108BD9-81ED-4DB2-BD59-A6C34878D82A}">
                    <a16:rowId xmlns:a16="http://schemas.microsoft.com/office/drawing/2014/main" val="1443499701"/>
                  </a:ext>
                </a:extLst>
              </a:tr>
              <a:tr h="194920">
                <a:tc>
                  <a:txBody>
                    <a:bodyPr/>
                    <a:lstStyle/>
                    <a:p>
                      <a:pPr algn="l" fontAlgn="b"/>
                      <a:r>
                        <a:rPr lang="en-US" sz="1100" b="0" i="0" u="none" strike="noStrike">
                          <a:solidFill>
                            <a:srgbClr val="000000"/>
                          </a:solidFill>
                          <a:effectLst/>
                          <a:latin typeface="Calibri" panose="020F0502020204030204" pitchFamily="34" charset="0"/>
                        </a:rPr>
                        <a:t>12/31/16</a:t>
                      </a:r>
                    </a:p>
                  </a:txBody>
                  <a:tcPr marL="9525" marR="9525" marT="9525" marB="0" anchor="b">
                    <a:lnL>
                      <a:noFill/>
                    </a:lnL>
                    <a:lnR>
                      <a:noFill/>
                    </a:lnR>
                    <a:lnT>
                      <a:noFill/>
                    </a:lnT>
                    <a:lnB>
                      <a:noFill/>
                    </a:lnB>
                  </a:tcPr>
                </a:tc>
                <a:tc>
                  <a:txBody>
                    <a:bodyPr/>
                    <a:lstStyle/>
                    <a:p>
                      <a:pPr algn="ctr" fontAlgn="b"/>
                      <a:r>
                        <a:rPr lang="en-US" sz="1100" b="0" i="0" u="none" strike="noStrike" dirty="0">
                          <a:solidFill>
                            <a:srgbClr val="000000"/>
                          </a:solidFill>
                          <a:effectLst/>
                          <a:latin typeface="Calibri" panose="020F0502020204030204" pitchFamily="34" charset="0"/>
                        </a:rPr>
                        <a:t>56 </a:t>
                      </a:r>
                    </a:p>
                  </a:txBody>
                  <a:tcPr marL="9525" marR="9525" marT="9525" marB="0" anchor="b">
                    <a:lnL>
                      <a:noFill/>
                    </a:lnL>
                    <a:lnR>
                      <a:noFill/>
                    </a:lnR>
                    <a:lnT>
                      <a:noFill/>
                    </a:lnT>
                    <a:lnB>
                      <a:noFill/>
                    </a:lnB>
                  </a:tcPr>
                </a:tc>
                <a:tc>
                  <a:txBody>
                    <a:bodyPr/>
                    <a:lstStyle/>
                    <a:p>
                      <a:pPr algn="ctr" fontAlgn="b"/>
                      <a:r>
                        <a:rPr lang="en-US" sz="1100" b="0" i="0" u="none" strike="noStrike">
                          <a:solidFill>
                            <a:srgbClr val="000000"/>
                          </a:solidFill>
                          <a:effectLst/>
                          <a:latin typeface="Calibri" panose="020F0502020204030204" pitchFamily="34" charset="0"/>
                        </a:rPr>
                        <a:t>18.59 </a:t>
                      </a:r>
                    </a:p>
                  </a:txBody>
                  <a:tcPr marL="9525" marR="9525" marT="9525" marB="0" anchor="b">
                    <a:lnL>
                      <a:noFill/>
                    </a:lnL>
                    <a:lnR>
                      <a:noFill/>
                    </a:lnR>
                    <a:lnT>
                      <a:noFill/>
                    </a:lnT>
                    <a:lnB>
                      <a:noFill/>
                    </a:lnB>
                  </a:tcPr>
                </a:tc>
                <a:extLst>
                  <a:ext uri="{0D108BD9-81ED-4DB2-BD59-A6C34878D82A}">
                    <a16:rowId xmlns:a16="http://schemas.microsoft.com/office/drawing/2014/main" val="1922645432"/>
                  </a:ext>
                </a:extLst>
              </a:tr>
              <a:tr h="194920">
                <a:tc>
                  <a:txBody>
                    <a:bodyPr/>
                    <a:lstStyle/>
                    <a:p>
                      <a:pPr algn="l" fontAlgn="b"/>
                      <a:r>
                        <a:rPr lang="en-US" sz="1100" b="0" i="0" u="none" strike="noStrike">
                          <a:solidFill>
                            <a:srgbClr val="000000"/>
                          </a:solidFill>
                          <a:effectLst/>
                          <a:latin typeface="Calibri" panose="020F0502020204030204" pitchFamily="34" charset="0"/>
                        </a:rPr>
                        <a:t>06/30/16</a:t>
                      </a:r>
                    </a:p>
                  </a:txBody>
                  <a:tcPr marL="9525" marR="9525" marT="9525" marB="0" anchor="b">
                    <a:lnL>
                      <a:noFill/>
                    </a:lnL>
                    <a:lnR>
                      <a:noFill/>
                    </a:lnR>
                    <a:lnT>
                      <a:noFill/>
                    </a:lnT>
                    <a:lnB>
                      <a:noFill/>
                    </a:lnB>
                  </a:tcPr>
                </a:tc>
                <a:tc>
                  <a:txBody>
                    <a:bodyPr/>
                    <a:lstStyle/>
                    <a:p>
                      <a:pPr algn="ctr" fontAlgn="b"/>
                      <a:r>
                        <a:rPr lang="en-US" sz="1100" b="0" i="0" u="none" strike="noStrike" dirty="0">
                          <a:solidFill>
                            <a:srgbClr val="000000"/>
                          </a:solidFill>
                          <a:effectLst/>
                          <a:latin typeface="Calibri" panose="020F0502020204030204" pitchFamily="34" charset="0"/>
                        </a:rPr>
                        <a:t>58 </a:t>
                      </a:r>
                    </a:p>
                  </a:txBody>
                  <a:tcPr marL="9525" marR="9525" marT="9525" marB="0" anchor="b">
                    <a:lnL>
                      <a:noFill/>
                    </a:lnL>
                    <a:lnR>
                      <a:noFill/>
                    </a:lnR>
                    <a:lnT>
                      <a:noFill/>
                    </a:lnT>
                    <a:lnB>
                      <a:noFill/>
                    </a:lnB>
                  </a:tcPr>
                </a:tc>
                <a:tc>
                  <a:txBody>
                    <a:bodyPr/>
                    <a:lstStyle/>
                    <a:p>
                      <a:pPr algn="ctr" fontAlgn="b"/>
                      <a:r>
                        <a:rPr lang="en-US" sz="1100" b="0" i="0" u="none" strike="noStrike">
                          <a:solidFill>
                            <a:srgbClr val="000000"/>
                          </a:solidFill>
                          <a:effectLst/>
                          <a:latin typeface="Calibri" panose="020F0502020204030204" pitchFamily="34" charset="0"/>
                        </a:rPr>
                        <a:t>16.95 </a:t>
                      </a:r>
                    </a:p>
                  </a:txBody>
                  <a:tcPr marL="9525" marR="9525" marT="9525" marB="0" anchor="b">
                    <a:lnL>
                      <a:noFill/>
                    </a:lnL>
                    <a:lnR>
                      <a:noFill/>
                    </a:lnR>
                    <a:lnT>
                      <a:noFill/>
                    </a:lnT>
                    <a:lnB>
                      <a:noFill/>
                    </a:lnB>
                  </a:tcPr>
                </a:tc>
                <a:extLst>
                  <a:ext uri="{0D108BD9-81ED-4DB2-BD59-A6C34878D82A}">
                    <a16:rowId xmlns:a16="http://schemas.microsoft.com/office/drawing/2014/main" val="1413423567"/>
                  </a:ext>
                </a:extLst>
              </a:tr>
              <a:tr h="194920">
                <a:tc>
                  <a:txBody>
                    <a:bodyPr/>
                    <a:lstStyle/>
                    <a:p>
                      <a:pPr algn="l" fontAlgn="b"/>
                      <a:r>
                        <a:rPr lang="en-US" sz="1100" b="0" i="0" u="none" strike="noStrike">
                          <a:solidFill>
                            <a:srgbClr val="000000"/>
                          </a:solidFill>
                          <a:effectLst/>
                          <a:latin typeface="Calibri" panose="020F0502020204030204" pitchFamily="34" charset="0"/>
                        </a:rPr>
                        <a:t>12/31/15</a:t>
                      </a:r>
                    </a:p>
                  </a:txBody>
                  <a:tcPr marL="9525" marR="9525" marT="9525" marB="0" anchor="b">
                    <a:lnL>
                      <a:noFill/>
                    </a:lnL>
                    <a:lnR>
                      <a:noFill/>
                    </a:lnR>
                    <a:lnT>
                      <a:noFill/>
                    </a:lnT>
                    <a:lnB>
                      <a:noFill/>
                    </a:lnB>
                  </a:tcPr>
                </a:tc>
                <a:tc>
                  <a:txBody>
                    <a:bodyPr/>
                    <a:lstStyle/>
                    <a:p>
                      <a:pPr algn="ctr" fontAlgn="b"/>
                      <a:r>
                        <a:rPr lang="en-US" sz="1100" b="0" i="0" u="none" strike="noStrike">
                          <a:solidFill>
                            <a:srgbClr val="000000"/>
                          </a:solidFill>
                          <a:effectLst/>
                          <a:latin typeface="Calibri" panose="020F0502020204030204" pitchFamily="34" charset="0"/>
                        </a:rPr>
                        <a:t>60 </a:t>
                      </a:r>
                    </a:p>
                  </a:txBody>
                  <a:tcPr marL="9525" marR="9525" marT="9525" marB="0" anchor="b">
                    <a:lnL>
                      <a:noFill/>
                    </a:lnL>
                    <a:lnR>
                      <a:noFill/>
                    </a:lnR>
                    <a:lnT>
                      <a:noFill/>
                    </a:lnT>
                    <a:lnB>
                      <a:noFill/>
                    </a:lnB>
                  </a:tcPr>
                </a:tc>
                <a:tc>
                  <a:txBody>
                    <a:bodyPr/>
                    <a:lstStyle/>
                    <a:p>
                      <a:pPr algn="ctr" fontAlgn="b"/>
                      <a:r>
                        <a:rPr lang="en-US" sz="1100" b="0" i="0" u="none" strike="noStrike" dirty="0">
                          <a:solidFill>
                            <a:srgbClr val="000000"/>
                          </a:solidFill>
                          <a:effectLst/>
                          <a:latin typeface="Calibri" panose="020F0502020204030204" pitchFamily="34" charset="0"/>
                        </a:rPr>
                        <a:t>7.62 </a:t>
                      </a:r>
                    </a:p>
                  </a:txBody>
                  <a:tcPr marL="9525" marR="9525" marT="9525" marB="0" anchor="b">
                    <a:lnL>
                      <a:noFill/>
                    </a:lnL>
                    <a:lnR>
                      <a:noFill/>
                    </a:lnR>
                    <a:lnT>
                      <a:noFill/>
                    </a:lnT>
                    <a:lnB>
                      <a:noFill/>
                    </a:lnB>
                  </a:tcPr>
                </a:tc>
                <a:extLst>
                  <a:ext uri="{0D108BD9-81ED-4DB2-BD59-A6C34878D82A}">
                    <a16:rowId xmlns:a16="http://schemas.microsoft.com/office/drawing/2014/main" val="3216527714"/>
                  </a:ext>
                </a:extLst>
              </a:tr>
              <a:tr h="194920">
                <a:tc>
                  <a:txBody>
                    <a:bodyPr/>
                    <a:lstStyle/>
                    <a:p>
                      <a:pPr algn="l" fontAlgn="b"/>
                      <a:r>
                        <a:rPr lang="en-US" sz="1100" b="0" i="0" u="none" strike="noStrike">
                          <a:solidFill>
                            <a:srgbClr val="000000"/>
                          </a:solidFill>
                          <a:effectLst/>
                          <a:latin typeface="Calibri" panose="020F0502020204030204" pitchFamily="34" charset="0"/>
                        </a:rPr>
                        <a:t>06/30/15</a:t>
                      </a:r>
                    </a:p>
                  </a:txBody>
                  <a:tcPr marL="9525" marR="9525" marT="9525" marB="0" anchor="b">
                    <a:lnL>
                      <a:noFill/>
                    </a:lnL>
                    <a:lnR>
                      <a:noFill/>
                    </a:lnR>
                    <a:lnT>
                      <a:noFill/>
                    </a:lnT>
                    <a:lnB>
                      <a:noFill/>
                    </a:lnB>
                  </a:tcPr>
                </a:tc>
                <a:tc>
                  <a:txBody>
                    <a:bodyPr/>
                    <a:lstStyle/>
                    <a:p>
                      <a:pPr algn="ctr" fontAlgn="b"/>
                      <a:r>
                        <a:rPr lang="en-US" sz="1100" b="0" i="0" u="none" strike="noStrike">
                          <a:solidFill>
                            <a:srgbClr val="000000"/>
                          </a:solidFill>
                          <a:effectLst/>
                          <a:latin typeface="Calibri" panose="020F0502020204030204" pitchFamily="34" charset="0"/>
                        </a:rPr>
                        <a:t>62 </a:t>
                      </a:r>
                    </a:p>
                  </a:txBody>
                  <a:tcPr marL="9525" marR="9525" marT="9525" marB="0" anchor="b">
                    <a:lnL>
                      <a:noFill/>
                    </a:lnL>
                    <a:lnR>
                      <a:noFill/>
                    </a:lnR>
                    <a:lnT>
                      <a:noFill/>
                    </a:lnT>
                    <a:lnB>
                      <a:noFill/>
                    </a:lnB>
                  </a:tcPr>
                </a:tc>
                <a:tc>
                  <a:txBody>
                    <a:bodyPr/>
                    <a:lstStyle/>
                    <a:p>
                      <a:pPr algn="ctr" fontAlgn="b"/>
                      <a:r>
                        <a:rPr lang="en-US" sz="1100" b="0" i="0" u="none" strike="noStrike" dirty="0">
                          <a:solidFill>
                            <a:srgbClr val="000000"/>
                          </a:solidFill>
                          <a:effectLst/>
                          <a:latin typeface="Calibri" panose="020F0502020204030204" pitchFamily="34" charset="0"/>
                        </a:rPr>
                        <a:t>6.44 </a:t>
                      </a:r>
                    </a:p>
                  </a:txBody>
                  <a:tcPr marL="9525" marR="9525" marT="9525" marB="0" anchor="b">
                    <a:lnL>
                      <a:noFill/>
                    </a:lnL>
                    <a:lnR>
                      <a:noFill/>
                    </a:lnR>
                    <a:lnT>
                      <a:noFill/>
                    </a:lnT>
                    <a:lnB>
                      <a:noFill/>
                    </a:lnB>
                  </a:tcPr>
                </a:tc>
                <a:extLst>
                  <a:ext uri="{0D108BD9-81ED-4DB2-BD59-A6C34878D82A}">
                    <a16:rowId xmlns:a16="http://schemas.microsoft.com/office/drawing/2014/main" val="1202423034"/>
                  </a:ext>
                </a:extLst>
              </a:tr>
              <a:tr h="194920">
                <a:tc>
                  <a:txBody>
                    <a:bodyPr/>
                    <a:lstStyle/>
                    <a:p>
                      <a:pPr algn="l" fontAlgn="b"/>
                      <a:r>
                        <a:rPr lang="en-US" sz="1100" b="0" i="0" u="none" strike="noStrike">
                          <a:solidFill>
                            <a:srgbClr val="000000"/>
                          </a:solidFill>
                          <a:effectLst/>
                          <a:latin typeface="Calibri" panose="020F0502020204030204" pitchFamily="34" charset="0"/>
                        </a:rPr>
                        <a:t>12/31/14</a:t>
                      </a:r>
                    </a:p>
                  </a:txBody>
                  <a:tcPr marL="9525" marR="9525" marT="9525" marB="0" anchor="b">
                    <a:lnL>
                      <a:noFill/>
                    </a:lnL>
                    <a:lnR>
                      <a:noFill/>
                    </a:lnR>
                    <a:lnT>
                      <a:noFill/>
                    </a:lnT>
                    <a:lnB>
                      <a:noFill/>
                    </a:lnB>
                  </a:tcPr>
                </a:tc>
                <a:tc>
                  <a:txBody>
                    <a:bodyPr/>
                    <a:lstStyle/>
                    <a:p>
                      <a:pPr algn="ctr" fontAlgn="b"/>
                      <a:r>
                        <a:rPr lang="en-US" sz="1100" b="0" i="0" u="none" strike="noStrike">
                          <a:solidFill>
                            <a:srgbClr val="000000"/>
                          </a:solidFill>
                          <a:effectLst/>
                          <a:latin typeface="Calibri" panose="020F0502020204030204" pitchFamily="34" charset="0"/>
                        </a:rPr>
                        <a:t>56 </a:t>
                      </a:r>
                    </a:p>
                  </a:txBody>
                  <a:tcPr marL="9525" marR="9525" marT="9525" marB="0" anchor="b">
                    <a:lnL>
                      <a:noFill/>
                    </a:lnL>
                    <a:lnR>
                      <a:noFill/>
                    </a:lnR>
                    <a:lnT>
                      <a:noFill/>
                    </a:lnT>
                    <a:lnB>
                      <a:noFill/>
                    </a:lnB>
                  </a:tcPr>
                </a:tc>
                <a:tc>
                  <a:txBody>
                    <a:bodyPr/>
                    <a:lstStyle/>
                    <a:p>
                      <a:pPr algn="ctr" fontAlgn="b"/>
                      <a:r>
                        <a:rPr lang="en-US" sz="1100" b="0" i="0" u="none" strike="noStrike" dirty="0">
                          <a:solidFill>
                            <a:srgbClr val="000000"/>
                          </a:solidFill>
                          <a:effectLst/>
                          <a:latin typeface="Calibri" panose="020F0502020204030204" pitchFamily="34" charset="0"/>
                        </a:rPr>
                        <a:t>4.80 </a:t>
                      </a:r>
                    </a:p>
                  </a:txBody>
                  <a:tcPr marL="9525" marR="9525" marT="9525" marB="0" anchor="b">
                    <a:lnL>
                      <a:noFill/>
                    </a:lnL>
                    <a:lnR>
                      <a:noFill/>
                    </a:lnR>
                    <a:lnT>
                      <a:noFill/>
                    </a:lnT>
                    <a:lnB>
                      <a:noFill/>
                    </a:lnB>
                  </a:tcPr>
                </a:tc>
                <a:extLst>
                  <a:ext uri="{0D108BD9-81ED-4DB2-BD59-A6C34878D82A}">
                    <a16:rowId xmlns:a16="http://schemas.microsoft.com/office/drawing/2014/main" val="2836884511"/>
                  </a:ext>
                </a:extLst>
              </a:tr>
              <a:tr h="194920">
                <a:tc>
                  <a:txBody>
                    <a:bodyPr/>
                    <a:lstStyle/>
                    <a:p>
                      <a:pPr algn="l" fontAlgn="b"/>
                      <a:r>
                        <a:rPr lang="en-US" sz="1100" b="0" i="0" u="none" strike="noStrike">
                          <a:solidFill>
                            <a:srgbClr val="000000"/>
                          </a:solidFill>
                          <a:effectLst/>
                          <a:latin typeface="Calibri" panose="020F0502020204030204" pitchFamily="34" charset="0"/>
                        </a:rPr>
                        <a:t>06/30/14</a:t>
                      </a:r>
                    </a:p>
                  </a:txBody>
                  <a:tcPr marL="9525" marR="9525" marT="9525" marB="0" anchor="b">
                    <a:lnL>
                      <a:noFill/>
                    </a:lnL>
                    <a:lnR>
                      <a:noFill/>
                    </a:lnR>
                    <a:lnT>
                      <a:noFill/>
                    </a:lnT>
                    <a:lnB>
                      <a:noFill/>
                    </a:lnB>
                  </a:tcPr>
                </a:tc>
                <a:tc>
                  <a:txBody>
                    <a:bodyPr/>
                    <a:lstStyle/>
                    <a:p>
                      <a:pPr algn="ctr" fontAlgn="b"/>
                      <a:r>
                        <a:rPr lang="en-US" sz="1100" b="0" i="0" u="none" strike="noStrike">
                          <a:solidFill>
                            <a:srgbClr val="000000"/>
                          </a:solidFill>
                          <a:effectLst/>
                          <a:latin typeface="Calibri" panose="020F0502020204030204" pitchFamily="34" charset="0"/>
                        </a:rPr>
                        <a:t>57 </a:t>
                      </a:r>
                    </a:p>
                  </a:txBody>
                  <a:tcPr marL="9525" marR="9525" marT="9525" marB="0" anchor="b">
                    <a:lnL>
                      <a:noFill/>
                    </a:lnL>
                    <a:lnR>
                      <a:noFill/>
                    </a:lnR>
                    <a:lnT>
                      <a:noFill/>
                    </a:lnT>
                    <a:lnB>
                      <a:noFill/>
                    </a:lnB>
                  </a:tcPr>
                </a:tc>
                <a:tc>
                  <a:txBody>
                    <a:bodyPr/>
                    <a:lstStyle/>
                    <a:p>
                      <a:pPr algn="ctr" fontAlgn="b"/>
                      <a:r>
                        <a:rPr lang="en-US" sz="1100" b="0" i="0" u="none" strike="noStrike" dirty="0">
                          <a:solidFill>
                            <a:srgbClr val="000000"/>
                          </a:solidFill>
                          <a:effectLst/>
                          <a:latin typeface="Calibri" panose="020F0502020204030204" pitchFamily="34" charset="0"/>
                        </a:rPr>
                        <a:t>4.26 </a:t>
                      </a:r>
                    </a:p>
                  </a:txBody>
                  <a:tcPr marL="9525" marR="9525" marT="9525" marB="0" anchor="b">
                    <a:lnL>
                      <a:noFill/>
                    </a:lnL>
                    <a:lnR>
                      <a:noFill/>
                    </a:lnR>
                    <a:lnT>
                      <a:noFill/>
                    </a:lnT>
                    <a:lnB>
                      <a:noFill/>
                    </a:lnB>
                  </a:tcPr>
                </a:tc>
                <a:extLst>
                  <a:ext uri="{0D108BD9-81ED-4DB2-BD59-A6C34878D82A}">
                    <a16:rowId xmlns:a16="http://schemas.microsoft.com/office/drawing/2014/main" val="1723134336"/>
                  </a:ext>
                </a:extLst>
              </a:tr>
              <a:tr h="194920">
                <a:tc>
                  <a:txBody>
                    <a:bodyPr/>
                    <a:lstStyle/>
                    <a:p>
                      <a:pPr algn="l" fontAlgn="b"/>
                      <a:r>
                        <a:rPr lang="en-US" sz="1100" b="0" i="0" u="none" strike="noStrike">
                          <a:solidFill>
                            <a:srgbClr val="000000"/>
                          </a:solidFill>
                          <a:effectLst/>
                          <a:latin typeface="Calibri" panose="020F0502020204030204" pitchFamily="34" charset="0"/>
                        </a:rPr>
                        <a:t>12/31/13</a:t>
                      </a:r>
                    </a:p>
                  </a:txBody>
                  <a:tcPr marL="9525" marR="9525" marT="9525" marB="0" anchor="b">
                    <a:lnL>
                      <a:noFill/>
                    </a:lnL>
                    <a:lnR>
                      <a:noFill/>
                    </a:lnR>
                    <a:lnT>
                      <a:noFill/>
                    </a:lnT>
                    <a:lnB>
                      <a:noFill/>
                    </a:lnB>
                  </a:tcPr>
                </a:tc>
                <a:tc>
                  <a:txBody>
                    <a:bodyPr/>
                    <a:lstStyle/>
                    <a:p>
                      <a:pPr algn="ctr" fontAlgn="b"/>
                      <a:r>
                        <a:rPr lang="en-US" sz="1100" b="0" i="0" u="none" strike="noStrike">
                          <a:solidFill>
                            <a:srgbClr val="000000"/>
                          </a:solidFill>
                          <a:effectLst/>
                          <a:latin typeface="Calibri" panose="020F0502020204030204" pitchFamily="34" charset="0"/>
                        </a:rPr>
                        <a:t>53 </a:t>
                      </a:r>
                    </a:p>
                  </a:txBody>
                  <a:tcPr marL="9525" marR="9525" marT="9525" marB="0" anchor="b">
                    <a:lnL>
                      <a:noFill/>
                    </a:lnL>
                    <a:lnR>
                      <a:noFill/>
                    </a:lnR>
                    <a:lnT>
                      <a:noFill/>
                    </a:lnT>
                    <a:lnB>
                      <a:noFill/>
                    </a:lnB>
                  </a:tcPr>
                </a:tc>
                <a:tc>
                  <a:txBody>
                    <a:bodyPr/>
                    <a:lstStyle/>
                    <a:p>
                      <a:pPr algn="ctr" fontAlgn="b"/>
                      <a:r>
                        <a:rPr lang="en-US" sz="1100" b="0" i="0" u="none" strike="noStrike" dirty="0">
                          <a:solidFill>
                            <a:srgbClr val="000000"/>
                          </a:solidFill>
                          <a:effectLst/>
                          <a:latin typeface="Calibri" panose="020F0502020204030204" pitchFamily="34" charset="0"/>
                        </a:rPr>
                        <a:t>5.60 </a:t>
                      </a:r>
                    </a:p>
                  </a:txBody>
                  <a:tcPr marL="9525" marR="9525" marT="9525" marB="0" anchor="b">
                    <a:lnL>
                      <a:noFill/>
                    </a:lnL>
                    <a:lnR>
                      <a:noFill/>
                    </a:lnR>
                    <a:lnT>
                      <a:noFill/>
                    </a:lnT>
                    <a:lnB>
                      <a:noFill/>
                    </a:lnB>
                  </a:tcPr>
                </a:tc>
                <a:extLst>
                  <a:ext uri="{0D108BD9-81ED-4DB2-BD59-A6C34878D82A}">
                    <a16:rowId xmlns:a16="http://schemas.microsoft.com/office/drawing/2014/main" val="3909548189"/>
                  </a:ext>
                </a:extLst>
              </a:tr>
              <a:tr h="194920">
                <a:tc>
                  <a:txBody>
                    <a:bodyPr/>
                    <a:lstStyle/>
                    <a:p>
                      <a:pPr algn="l" fontAlgn="b"/>
                      <a:r>
                        <a:rPr lang="en-US" sz="1100" b="0" i="0" u="none" strike="noStrike">
                          <a:solidFill>
                            <a:srgbClr val="000000"/>
                          </a:solidFill>
                          <a:effectLst/>
                          <a:latin typeface="Calibri" panose="020F0502020204030204" pitchFamily="34" charset="0"/>
                        </a:rPr>
                        <a:t>06/30/13</a:t>
                      </a:r>
                    </a:p>
                  </a:txBody>
                  <a:tcPr marL="9525" marR="9525" marT="9525" marB="0" anchor="b">
                    <a:lnL>
                      <a:noFill/>
                    </a:lnL>
                    <a:lnR>
                      <a:noFill/>
                    </a:lnR>
                    <a:lnT>
                      <a:noFill/>
                    </a:lnT>
                    <a:lnB>
                      <a:noFill/>
                    </a:lnB>
                  </a:tcPr>
                </a:tc>
                <a:tc>
                  <a:txBody>
                    <a:bodyPr/>
                    <a:lstStyle/>
                    <a:p>
                      <a:pPr algn="ctr" fontAlgn="b"/>
                      <a:r>
                        <a:rPr lang="en-US" sz="1100" b="0" i="0" u="none" strike="noStrike">
                          <a:solidFill>
                            <a:srgbClr val="000000"/>
                          </a:solidFill>
                          <a:effectLst/>
                          <a:latin typeface="Calibri" panose="020F0502020204030204" pitchFamily="34" charset="0"/>
                        </a:rPr>
                        <a:t>55 </a:t>
                      </a:r>
                    </a:p>
                  </a:txBody>
                  <a:tcPr marL="9525" marR="9525" marT="9525" marB="0" anchor="b">
                    <a:lnL>
                      <a:noFill/>
                    </a:lnL>
                    <a:lnR>
                      <a:noFill/>
                    </a:lnR>
                    <a:lnT>
                      <a:noFill/>
                    </a:lnT>
                    <a:lnB>
                      <a:noFill/>
                    </a:lnB>
                  </a:tcPr>
                </a:tc>
                <a:tc>
                  <a:txBody>
                    <a:bodyPr/>
                    <a:lstStyle/>
                    <a:p>
                      <a:pPr algn="ctr" fontAlgn="b"/>
                      <a:r>
                        <a:rPr lang="en-US" sz="1100" b="0" i="0" u="none" strike="noStrike" dirty="0">
                          <a:solidFill>
                            <a:srgbClr val="000000"/>
                          </a:solidFill>
                          <a:effectLst/>
                          <a:latin typeface="Calibri" panose="020F0502020204030204" pitchFamily="34" charset="0"/>
                        </a:rPr>
                        <a:t>22.23 </a:t>
                      </a:r>
                    </a:p>
                  </a:txBody>
                  <a:tcPr marL="9525" marR="9525" marT="9525" marB="0" anchor="b">
                    <a:lnL>
                      <a:noFill/>
                    </a:lnL>
                    <a:lnR>
                      <a:noFill/>
                    </a:lnR>
                    <a:lnT>
                      <a:noFill/>
                    </a:lnT>
                    <a:lnB>
                      <a:noFill/>
                    </a:lnB>
                  </a:tcPr>
                </a:tc>
                <a:extLst>
                  <a:ext uri="{0D108BD9-81ED-4DB2-BD59-A6C34878D82A}">
                    <a16:rowId xmlns:a16="http://schemas.microsoft.com/office/drawing/2014/main" val="692909426"/>
                  </a:ext>
                </a:extLst>
              </a:tr>
              <a:tr h="194920">
                <a:tc>
                  <a:txBody>
                    <a:bodyPr/>
                    <a:lstStyle/>
                    <a:p>
                      <a:pPr algn="l" fontAlgn="b"/>
                      <a:r>
                        <a:rPr lang="en-US" sz="1100" b="0" i="0" u="none" strike="noStrike">
                          <a:solidFill>
                            <a:srgbClr val="000000"/>
                          </a:solidFill>
                          <a:effectLst/>
                          <a:latin typeface="Calibri" panose="020F0502020204030204" pitchFamily="34" charset="0"/>
                        </a:rPr>
                        <a:t>12/31/12</a:t>
                      </a:r>
                    </a:p>
                  </a:txBody>
                  <a:tcPr marL="9525" marR="9525" marT="9525" marB="0" anchor="b">
                    <a:lnL>
                      <a:noFill/>
                    </a:lnL>
                    <a:lnR>
                      <a:noFill/>
                    </a:lnR>
                    <a:lnT>
                      <a:noFill/>
                    </a:lnT>
                    <a:lnB>
                      <a:noFill/>
                    </a:lnB>
                  </a:tcPr>
                </a:tc>
                <a:tc>
                  <a:txBody>
                    <a:bodyPr/>
                    <a:lstStyle/>
                    <a:p>
                      <a:pPr algn="ctr" fontAlgn="b"/>
                      <a:r>
                        <a:rPr lang="en-US" sz="1100" b="0" i="0" u="none" strike="noStrike">
                          <a:solidFill>
                            <a:srgbClr val="000000"/>
                          </a:solidFill>
                          <a:effectLst/>
                          <a:latin typeface="Calibri" panose="020F0502020204030204" pitchFamily="34" charset="0"/>
                        </a:rPr>
                        <a:t>49 </a:t>
                      </a:r>
                    </a:p>
                  </a:txBody>
                  <a:tcPr marL="9525" marR="9525" marT="9525" marB="0" anchor="b">
                    <a:lnL>
                      <a:noFill/>
                    </a:lnL>
                    <a:lnR>
                      <a:noFill/>
                    </a:lnR>
                    <a:lnT>
                      <a:noFill/>
                    </a:lnT>
                    <a:lnB>
                      <a:noFill/>
                    </a:lnB>
                  </a:tcPr>
                </a:tc>
                <a:tc>
                  <a:txBody>
                    <a:bodyPr/>
                    <a:lstStyle/>
                    <a:p>
                      <a:pPr algn="ctr" fontAlgn="b"/>
                      <a:r>
                        <a:rPr lang="en-US" sz="1100" b="0" i="0" u="none" strike="noStrike" dirty="0">
                          <a:solidFill>
                            <a:srgbClr val="000000"/>
                          </a:solidFill>
                          <a:effectLst/>
                          <a:latin typeface="Calibri" panose="020F0502020204030204" pitchFamily="34" charset="0"/>
                        </a:rPr>
                        <a:t>9.15 </a:t>
                      </a:r>
                    </a:p>
                  </a:txBody>
                  <a:tcPr marL="9525" marR="9525" marT="9525" marB="0" anchor="b">
                    <a:lnL>
                      <a:noFill/>
                    </a:lnL>
                    <a:lnR>
                      <a:noFill/>
                    </a:lnR>
                    <a:lnT>
                      <a:noFill/>
                    </a:lnT>
                    <a:lnB>
                      <a:noFill/>
                    </a:lnB>
                  </a:tcPr>
                </a:tc>
                <a:extLst>
                  <a:ext uri="{0D108BD9-81ED-4DB2-BD59-A6C34878D82A}">
                    <a16:rowId xmlns:a16="http://schemas.microsoft.com/office/drawing/2014/main" val="1401930365"/>
                  </a:ext>
                </a:extLst>
              </a:tr>
              <a:tr h="194920">
                <a:tc>
                  <a:txBody>
                    <a:bodyPr/>
                    <a:lstStyle/>
                    <a:p>
                      <a:pPr algn="l" fontAlgn="b"/>
                      <a:r>
                        <a:rPr lang="en-US" sz="1100" b="0" i="0" u="none" strike="noStrike">
                          <a:solidFill>
                            <a:srgbClr val="000000"/>
                          </a:solidFill>
                          <a:effectLst/>
                          <a:latin typeface="Calibri" panose="020F0502020204030204" pitchFamily="34" charset="0"/>
                        </a:rPr>
                        <a:t>06/30/12</a:t>
                      </a:r>
                    </a:p>
                  </a:txBody>
                  <a:tcPr marL="9525" marR="9525" marT="9525" marB="0" anchor="b">
                    <a:lnL>
                      <a:noFill/>
                    </a:lnL>
                    <a:lnR>
                      <a:noFill/>
                    </a:lnR>
                    <a:lnT>
                      <a:noFill/>
                    </a:lnT>
                    <a:lnB>
                      <a:noFill/>
                    </a:lnB>
                  </a:tcPr>
                </a:tc>
                <a:tc>
                  <a:txBody>
                    <a:bodyPr/>
                    <a:lstStyle/>
                    <a:p>
                      <a:pPr algn="ctr" fontAlgn="b"/>
                      <a:r>
                        <a:rPr lang="en-US" sz="1100" b="0" i="0" u="none" strike="noStrike">
                          <a:solidFill>
                            <a:srgbClr val="000000"/>
                          </a:solidFill>
                          <a:effectLst/>
                          <a:latin typeface="Calibri" panose="020F0502020204030204" pitchFamily="34" charset="0"/>
                        </a:rPr>
                        <a:t>48 </a:t>
                      </a:r>
                    </a:p>
                  </a:txBody>
                  <a:tcPr marL="9525" marR="9525" marT="9525" marB="0" anchor="b">
                    <a:lnL>
                      <a:noFill/>
                    </a:lnL>
                    <a:lnR>
                      <a:noFill/>
                    </a:lnR>
                    <a:lnT>
                      <a:noFill/>
                    </a:lnT>
                    <a:lnB>
                      <a:noFill/>
                    </a:lnB>
                  </a:tcPr>
                </a:tc>
                <a:tc>
                  <a:txBody>
                    <a:bodyPr/>
                    <a:lstStyle/>
                    <a:p>
                      <a:pPr algn="ctr" fontAlgn="b"/>
                      <a:r>
                        <a:rPr lang="en-US" sz="1100" b="0" i="0" u="none" strike="noStrike" dirty="0">
                          <a:solidFill>
                            <a:srgbClr val="000000"/>
                          </a:solidFill>
                          <a:effectLst/>
                          <a:latin typeface="Calibri" panose="020F0502020204030204" pitchFamily="34" charset="0"/>
                        </a:rPr>
                        <a:t>3.65 </a:t>
                      </a:r>
                    </a:p>
                  </a:txBody>
                  <a:tcPr marL="9525" marR="9525" marT="9525" marB="0" anchor="b">
                    <a:lnL>
                      <a:noFill/>
                    </a:lnL>
                    <a:lnR>
                      <a:noFill/>
                    </a:lnR>
                    <a:lnT>
                      <a:noFill/>
                    </a:lnT>
                    <a:lnB>
                      <a:noFill/>
                    </a:lnB>
                  </a:tcPr>
                </a:tc>
                <a:extLst>
                  <a:ext uri="{0D108BD9-81ED-4DB2-BD59-A6C34878D82A}">
                    <a16:rowId xmlns:a16="http://schemas.microsoft.com/office/drawing/2014/main" val="2077581120"/>
                  </a:ext>
                </a:extLst>
              </a:tr>
              <a:tr h="194920">
                <a:tc>
                  <a:txBody>
                    <a:bodyPr/>
                    <a:lstStyle/>
                    <a:p>
                      <a:pPr algn="l" fontAlgn="b"/>
                      <a:r>
                        <a:rPr lang="en-US" sz="1100" b="0" i="0" u="none" strike="noStrike">
                          <a:solidFill>
                            <a:srgbClr val="000000"/>
                          </a:solidFill>
                          <a:effectLst/>
                          <a:latin typeface="Calibri" panose="020F0502020204030204" pitchFamily="34" charset="0"/>
                        </a:rPr>
                        <a:t>12/31/11</a:t>
                      </a:r>
                    </a:p>
                  </a:txBody>
                  <a:tcPr marL="9525" marR="9525" marT="9525" marB="0" anchor="b">
                    <a:lnL>
                      <a:noFill/>
                    </a:lnL>
                    <a:lnR>
                      <a:noFill/>
                    </a:lnR>
                    <a:lnT>
                      <a:noFill/>
                    </a:lnT>
                    <a:lnB>
                      <a:noFill/>
                    </a:lnB>
                  </a:tcPr>
                </a:tc>
                <a:tc>
                  <a:txBody>
                    <a:bodyPr/>
                    <a:lstStyle/>
                    <a:p>
                      <a:pPr algn="ctr" fontAlgn="b"/>
                      <a:r>
                        <a:rPr lang="en-US" sz="1100" b="0" i="0" u="none" strike="noStrike">
                          <a:solidFill>
                            <a:srgbClr val="000000"/>
                          </a:solidFill>
                          <a:effectLst/>
                          <a:latin typeface="Calibri" panose="020F0502020204030204" pitchFamily="34" charset="0"/>
                        </a:rPr>
                        <a:t>46 </a:t>
                      </a:r>
                    </a:p>
                  </a:txBody>
                  <a:tcPr marL="9525" marR="9525" marT="9525" marB="0" anchor="b">
                    <a:lnL>
                      <a:noFill/>
                    </a:lnL>
                    <a:lnR>
                      <a:noFill/>
                    </a:lnR>
                    <a:lnT>
                      <a:noFill/>
                    </a:lnT>
                    <a:lnB>
                      <a:noFill/>
                    </a:lnB>
                  </a:tcPr>
                </a:tc>
                <a:tc>
                  <a:txBody>
                    <a:bodyPr/>
                    <a:lstStyle/>
                    <a:p>
                      <a:pPr algn="ctr" fontAlgn="b"/>
                      <a:r>
                        <a:rPr lang="en-US" sz="1100" b="0" i="0" u="none" strike="noStrike" dirty="0">
                          <a:solidFill>
                            <a:srgbClr val="000000"/>
                          </a:solidFill>
                          <a:effectLst/>
                          <a:latin typeface="Calibri" panose="020F0502020204030204" pitchFamily="34" charset="0"/>
                        </a:rPr>
                        <a:t>9.28 </a:t>
                      </a:r>
                    </a:p>
                  </a:txBody>
                  <a:tcPr marL="9525" marR="9525" marT="9525" marB="0" anchor="b">
                    <a:lnL>
                      <a:noFill/>
                    </a:lnL>
                    <a:lnR>
                      <a:noFill/>
                    </a:lnR>
                    <a:lnT>
                      <a:noFill/>
                    </a:lnT>
                    <a:lnB>
                      <a:noFill/>
                    </a:lnB>
                  </a:tcPr>
                </a:tc>
                <a:extLst>
                  <a:ext uri="{0D108BD9-81ED-4DB2-BD59-A6C34878D82A}">
                    <a16:rowId xmlns:a16="http://schemas.microsoft.com/office/drawing/2014/main" val="2179177145"/>
                  </a:ext>
                </a:extLst>
              </a:tr>
              <a:tr h="194920">
                <a:tc>
                  <a:txBody>
                    <a:bodyPr/>
                    <a:lstStyle/>
                    <a:p>
                      <a:pPr algn="l" fontAlgn="b"/>
                      <a:r>
                        <a:rPr lang="en-US" sz="1100" b="0" i="0" u="none" strike="noStrike">
                          <a:solidFill>
                            <a:srgbClr val="000000"/>
                          </a:solidFill>
                          <a:effectLst/>
                          <a:latin typeface="Calibri" panose="020F0502020204030204" pitchFamily="34" charset="0"/>
                        </a:rPr>
                        <a:t>06/30/11</a:t>
                      </a:r>
                    </a:p>
                  </a:txBody>
                  <a:tcPr marL="9525" marR="9525" marT="9525" marB="0" anchor="b">
                    <a:lnL>
                      <a:noFill/>
                    </a:lnL>
                    <a:lnR>
                      <a:noFill/>
                    </a:lnR>
                    <a:lnT>
                      <a:noFill/>
                    </a:lnT>
                    <a:lnB>
                      <a:noFill/>
                    </a:lnB>
                  </a:tcPr>
                </a:tc>
                <a:tc>
                  <a:txBody>
                    <a:bodyPr/>
                    <a:lstStyle/>
                    <a:p>
                      <a:pPr algn="ctr" fontAlgn="b"/>
                      <a:r>
                        <a:rPr lang="en-US" sz="1100" b="0" i="0" u="none" strike="noStrike">
                          <a:solidFill>
                            <a:srgbClr val="000000"/>
                          </a:solidFill>
                          <a:effectLst/>
                          <a:latin typeface="Calibri" panose="020F0502020204030204" pitchFamily="34" charset="0"/>
                        </a:rPr>
                        <a:t>45 </a:t>
                      </a:r>
                    </a:p>
                  </a:txBody>
                  <a:tcPr marL="9525" marR="9525" marT="9525" marB="0" anchor="b">
                    <a:lnL>
                      <a:noFill/>
                    </a:lnL>
                    <a:lnR>
                      <a:noFill/>
                    </a:lnR>
                    <a:lnT>
                      <a:noFill/>
                    </a:lnT>
                    <a:lnB>
                      <a:noFill/>
                    </a:lnB>
                  </a:tcPr>
                </a:tc>
                <a:tc>
                  <a:txBody>
                    <a:bodyPr/>
                    <a:lstStyle/>
                    <a:p>
                      <a:pPr algn="ctr" fontAlgn="b"/>
                      <a:r>
                        <a:rPr lang="en-US" sz="1100" b="0" i="0" u="none" strike="noStrike" dirty="0">
                          <a:solidFill>
                            <a:srgbClr val="000000"/>
                          </a:solidFill>
                          <a:effectLst/>
                          <a:latin typeface="Calibri" panose="020F0502020204030204" pitchFamily="34" charset="0"/>
                        </a:rPr>
                        <a:t>14.31 </a:t>
                      </a:r>
                    </a:p>
                  </a:txBody>
                  <a:tcPr marL="9525" marR="9525" marT="9525" marB="0" anchor="b">
                    <a:lnL>
                      <a:noFill/>
                    </a:lnL>
                    <a:lnR>
                      <a:noFill/>
                    </a:lnR>
                    <a:lnT>
                      <a:noFill/>
                    </a:lnT>
                    <a:lnB>
                      <a:noFill/>
                    </a:lnB>
                  </a:tcPr>
                </a:tc>
                <a:extLst>
                  <a:ext uri="{0D108BD9-81ED-4DB2-BD59-A6C34878D82A}">
                    <a16:rowId xmlns:a16="http://schemas.microsoft.com/office/drawing/2014/main" val="4088196195"/>
                  </a:ext>
                </a:extLst>
              </a:tr>
              <a:tr h="194920">
                <a:tc>
                  <a:txBody>
                    <a:bodyPr/>
                    <a:lstStyle/>
                    <a:p>
                      <a:pPr algn="l" fontAlgn="b"/>
                      <a:r>
                        <a:rPr lang="en-US" sz="1100" b="0" i="0" u="none" strike="noStrike">
                          <a:solidFill>
                            <a:srgbClr val="000000"/>
                          </a:solidFill>
                          <a:effectLst/>
                          <a:latin typeface="Calibri" panose="020F0502020204030204" pitchFamily="34" charset="0"/>
                        </a:rPr>
                        <a:t>12/31/10</a:t>
                      </a:r>
                    </a:p>
                  </a:txBody>
                  <a:tcPr marL="9525" marR="9525" marT="9525" marB="0" anchor="b">
                    <a:lnL>
                      <a:noFill/>
                    </a:lnL>
                    <a:lnR>
                      <a:noFill/>
                    </a:lnR>
                    <a:lnT>
                      <a:noFill/>
                    </a:lnT>
                    <a:lnB>
                      <a:noFill/>
                    </a:lnB>
                  </a:tcPr>
                </a:tc>
                <a:tc>
                  <a:txBody>
                    <a:bodyPr/>
                    <a:lstStyle/>
                    <a:p>
                      <a:pPr algn="ctr" fontAlgn="b"/>
                      <a:r>
                        <a:rPr lang="en-US" sz="1100" b="0" i="0" u="none" strike="noStrike">
                          <a:solidFill>
                            <a:srgbClr val="000000"/>
                          </a:solidFill>
                          <a:effectLst/>
                          <a:latin typeface="Calibri" panose="020F0502020204030204" pitchFamily="34" charset="0"/>
                        </a:rPr>
                        <a:t>43 </a:t>
                      </a:r>
                    </a:p>
                  </a:txBody>
                  <a:tcPr marL="9525" marR="9525" marT="9525" marB="0" anchor="b">
                    <a:lnL>
                      <a:noFill/>
                    </a:lnL>
                    <a:lnR>
                      <a:noFill/>
                    </a:lnR>
                    <a:lnT>
                      <a:noFill/>
                    </a:lnT>
                    <a:lnB>
                      <a:noFill/>
                    </a:lnB>
                  </a:tcPr>
                </a:tc>
                <a:tc>
                  <a:txBody>
                    <a:bodyPr/>
                    <a:lstStyle/>
                    <a:p>
                      <a:pPr algn="ctr" fontAlgn="b"/>
                      <a:r>
                        <a:rPr lang="en-US" sz="1100" b="0" i="0" u="none" strike="noStrike" dirty="0">
                          <a:solidFill>
                            <a:srgbClr val="000000"/>
                          </a:solidFill>
                          <a:effectLst/>
                          <a:latin typeface="Calibri" panose="020F0502020204030204" pitchFamily="34" charset="0"/>
                        </a:rPr>
                        <a:t>N.A.</a:t>
                      </a:r>
                    </a:p>
                  </a:txBody>
                  <a:tcPr marL="9525" marR="9525" marT="9525" marB="0" anchor="b">
                    <a:lnL>
                      <a:noFill/>
                    </a:lnL>
                    <a:lnR>
                      <a:noFill/>
                    </a:lnR>
                    <a:lnT>
                      <a:noFill/>
                    </a:lnT>
                    <a:lnB>
                      <a:noFill/>
                    </a:lnB>
                  </a:tcPr>
                </a:tc>
                <a:extLst>
                  <a:ext uri="{0D108BD9-81ED-4DB2-BD59-A6C34878D82A}">
                    <a16:rowId xmlns:a16="http://schemas.microsoft.com/office/drawing/2014/main" val="242660162"/>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Franchise Index </a:t>
            </a:r>
            <a:r>
              <a:rPr lang="en-US" dirty="0" err="1"/>
              <a:t>Backtest</a:t>
            </a:r>
            <a:r>
              <a:rPr lang="en-US" dirty="0"/>
              <a:t> Parameters</a:t>
            </a:r>
          </a:p>
        </p:txBody>
      </p:sp>
      <p:sp>
        <p:nvSpPr>
          <p:cNvPr id="25" name="Oval 24"/>
          <p:cNvSpPr/>
          <p:nvPr/>
        </p:nvSpPr>
        <p:spPr>
          <a:xfrm>
            <a:off x="2320380" y="3608438"/>
            <a:ext cx="803820" cy="80382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F053D568-8178-4357-A52D-66E935D6D01B}"/>
              </a:ext>
            </a:extLst>
          </p:cNvPr>
          <p:cNvSpPr txBox="1"/>
          <p:nvPr/>
        </p:nvSpPr>
        <p:spPr>
          <a:xfrm>
            <a:off x="685800" y="1600200"/>
            <a:ext cx="8763000" cy="6247864"/>
          </a:xfrm>
          <a:prstGeom prst="rect">
            <a:avLst/>
          </a:prstGeom>
          <a:noFill/>
        </p:spPr>
        <p:txBody>
          <a:bodyPr wrap="square" rtlCol="0">
            <a:spAutoFit/>
          </a:bodyPr>
          <a:lstStyle/>
          <a:p>
            <a:pPr marL="285750" indent="-285750">
              <a:buFont typeface="Arial" panose="020B0604020202020204" pitchFamily="34" charset="0"/>
              <a:buChar char="•"/>
            </a:pPr>
            <a:r>
              <a:rPr lang="en-US" dirty="0"/>
              <a:t>7 Year </a:t>
            </a:r>
            <a:r>
              <a:rPr lang="en-US" dirty="0" err="1"/>
              <a:t>Backtest</a:t>
            </a:r>
            <a:r>
              <a:rPr lang="en-US" dirty="0"/>
              <a:t> Period</a:t>
            </a:r>
          </a:p>
          <a:p>
            <a:pPr marL="285750" indent="-285750">
              <a:buFont typeface="Arial" panose="020B0604020202020204" pitchFamily="34" charset="0"/>
              <a:buChar char="•"/>
            </a:pPr>
            <a:r>
              <a:rPr lang="en-US" dirty="0"/>
              <a:t>Semi-Annual Rebalance</a:t>
            </a:r>
          </a:p>
          <a:p>
            <a:pPr marL="285750" indent="-285750">
              <a:buFont typeface="Arial" panose="020B0604020202020204" pitchFamily="34" charset="0"/>
              <a:buChar char="•"/>
            </a:pPr>
            <a:r>
              <a:rPr lang="en-US" dirty="0"/>
              <a:t>Rules Based Fundamentally Weighted</a:t>
            </a:r>
          </a:p>
          <a:p>
            <a:pPr marL="285750" indent="-285750">
              <a:buFont typeface="Arial" panose="020B0604020202020204" pitchFamily="34" charset="0"/>
              <a:buChar char="•"/>
            </a:pPr>
            <a:r>
              <a:rPr lang="en-US" dirty="0"/>
              <a:t>Weighting Factor: ROIC</a:t>
            </a:r>
          </a:p>
          <a:p>
            <a:pPr marL="285750" indent="-285750">
              <a:buFont typeface="Arial" panose="020B0604020202020204" pitchFamily="34" charset="0"/>
              <a:buChar char="•"/>
            </a:pPr>
            <a:endParaRPr lang="en-US" dirty="0"/>
          </a:p>
          <a:p>
            <a:r>
              <a:rPr lang="en-US" sz="1400" b="1" dirty="0"/>
              <a:t>ROIC</a:t>
            </a:r>
            <a:r>
              <a:rPr lang="en-US" sz="1400" dirty="0"/>
              <a:t> - Indicates how effectively a company uses the sources of capital (equity and debt) invested in its operations. Average Invested Capital is the average of the beginning and ending balance of Total Invested Capital (RX215, TOTAL_INVESTED_CAPITAL). </a:t>
            </a:r>
          </a:p>
          <a:p>
            <a:endParaRPr lang="en-US" sz="1400" dirty="0"/>
          </a:p>
          <a:p>
            <a:r>
              <a:rPr lang="en-US" sz="1400" dirty="0"/>
              <a:t>It is computed as:</a:t>
            </a:r>
          </a:p>
          <a:p>
            <a:r>
              <a:rPr lang="en-US" sz="1400" dirty="0"/>
              <a:t>100 x (T12M Net operating profit after tax / Average invested capital)</a:t>
            </a:r>
          </a:p>
          <a:p>
            <a:endParaRPr lang="en-US" sz="1400" dirty="0"/>
          </a:p>
          <a:p>
            <a:r>
              <a:rPr lang="en-US" sz="1400" dirty="0"/>
              <a:t>Where:</a:t>
            </a:r>
          </a:p>
          <a:p>
            <a:r>
              <a:rPr lang="en-US" sz="1400" dirty="0"/>
              <a:t>T12M Net operating profit after tax is RX216, TRAIL_12M_NET_OP_PROF_AFTER_TAX </a:t>
            </a:r>
          </a:p>
          <a:p>
            <a:r>
              <a:rPr lang="en-US" sz="1400" dirty="0"/>
              <a:t>Invested Capital is RX215, TOTAL_INVESTED_CAPITAL </a:t>
            </a:r>
          </a:p>
          <a:p>
            <a:endParaRPr lang="en-US" sz="1400" dirty="0"/>
          </a:p>
          <a:p>
            <a:r>
              <a:rPr lang="en-US" sz="1400" dirty="0"/>
              <a:t>Average of Invested Capital is calculated based on the average of invested capital for current period and invested capital for the same period a year ago.</a:t>
            </a:r>
          </a:p>
          <a:p>
            <a:endParaRPr lang="en-US" sz="1400" dirty="0"/>
          </a:p>
          <a:p>
            <a:r>
              <a:rPr lang="en-US" sz="1400" dirty="0"/>
              <a:t>ROIC will not compute if:</a:t>
            </a:r>
          </a:p>
          <a:p>
            <a:r>
              <a:rPr lang="en-US" sz="1400" dirty="0"/>
              <a:t>     1. The year-over-year average of invested capital is negative.</a:t>
            </a:r>
          </a:p>
          <a:p>
            <a:r>
              <a:rPr lang="en-US" sz="1400" dirty="0"/>
              <a:t>     2. Effective Tax Rate (RR037, EFF_TAX_RATE) or Trailing 12 Months Effective Tax Rate (RR712, TRAIL_12M_EFF_TAX_RT) is not available.</a:t>
            </a:r>
          </a:p>
          <a:p>
            <a:endParaRPr lang="en-US" dirty="0"/>
          </a:p>
          <a:p>
            <a:endParaRPr lang="en-US" dirty="0"/>
          </a:p>
          <a:p>
            <a:endParaRPr lang="en-US" dirty="0"/>
          </a:p>
        </p:txBody>
      </p:sp>
    </p:spTree>
    <p:extLst>
      <p:ext uri="{BB962C8B-B14F-4D97-AF65-F5344CB8AC3E}">
        <p14:creationId xmlns:p14="http://schemas.microsoft.com/office/powerpoint/2010/main" val="40929191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Franchise Index </a:t>
            </a:r>
            <a:r>
              <a:rPr lang="en-US" dirty="0" err="1"/>
              <a:t>Backtest</a:t>
            </a:r>
            <a:r>
              <a:rPr lang="en-US" dirty="0"/>
              <a:t> Results</a:t>
            </a:r>
          </a:p>
        </p:txBody>
      </p:sp>
      <p:sp>
        <p:nvSpPr>
          <p:cNvPr id="25" name="Oval 24"/>
          <p:cNvSpPr/>
          <p:nvPr/>
        </p:nvSpPr>
        <p:spPr>
          <a:xfrm>
            <a:off x="2320380" y="3608438"/>
            <a:ext cx="803820" cy="80382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F053D568-8178-4357-A52D-66E935D6D01B}"/>
              </a:ext>
            </a:extLst>
          </p:cNvPr>
          <p:cNvSpPr txBox="1"/>
          <p:nvPr/>
        </p:nvSpPr>
        <p:spPr>
          <a:xfrm>
            <a:off x="685800" y="1600200"/>
            <a:ext cx="8763000" cy="2308324"/>
          </a:xfrm>
          <a:prstGeom prst="rect">
            <a:avLst/>
          </a:prstGeom>
          <a:noFill/>
        </p:spPr>
        <p:txBody>
          <a:bodyPr wrap="square" rtlCol="0">
            <a:spAutoFit/>
          </a:bodyPr>
          <a:lstStyle/>
          <a:p>
            <a:pPr marL="285750" indent="-285750">
              <a:buFont typeface="Arial" panose="020B0604020202020204" pitchFamily="34" charset="0"/>
              <a:buChar char="•"/>
            </a:pPr>
            <a:r>
              <a:rPr lang="en-US" dirty="0"/>
              <a:t>7 Year </a:t>
            </a:r>
            <a:r>
              <a:rPr lang="en-US" dirty="0" err="1"/>
              <a:t>Backtest</a:t>
            </a:r>
            <a:r>
              <a:rPr lang="en-US" dirty="0"/>
              <a:t> Period</a:t>
            </a:r>
          </a:p>
          <a:p>
            <a:pPr marL="285750" indent="-285750">
              <a:buFont typeface="Arial" panose="020B0604020202020204" pitchFamily="34" charset="0"/>
              <a:buChar char="•"/>
            </a:pPr>
            <a:r>
              <a:rPr lang="en-US" dirty="0"/>
              <a:t>Semi-Annual Rebalance</a:t>
            </a:r>
          </a:p>
          <a:p>
            <a:pPr marL="285750" indent="-285750">
              <a:buFont typeface="Arial" panose="020B0604020202020204" pitchFamily="34" charset="0"/>
              <a:buChar char="•"/>
            </a:pPr>
            <a:r>
              <a:rPr lang="en-US" dirty="0"/>
              <a:t>Rules Based Fundamentally Weighted</a:t>
            </a:r>
          </a:p>
          <a:p>
            <a:pPr marL="285750" indent="-285750">
              <a:buFont typeface="Arial" panose="020B0604020202020204" pitchFamily="34" charset="0"/>
              <a:buChar char="•"/>
            </a:pPr>
            <a:r>
              <a:rPr lang="en-US" dirty="0"/>
              <a:t>Weighting Factor: ROIC</a:t>
            </a:r>
          </a:p>
          <a:p>
            <a:pPr marL="285750" indent="-285750">
              <a:buFont typeface="Arial" panose="020B0604020202020204" pitchFamily="34" charset="0"/>
              <a:buChar char="•"/>
            </a:pPr>
            <a:endParaRPr lang="en-US" dirty="0"/>
          </a:p>
          <a:p>
            <a:endParaRPr lang="en-US" dirty="0"/>
          </a:p>
          <a:p>
            <a:endParaRPr lang="en-US" dirty="0"/>
          </a:p>
          <a:p>
            <a:endParaRPr lang="en-US" dirty="0"/>
          </a:p>
        </p:txBody>
      </p:sp>
      <p:pic>
        <p:nvPicPr>
          <p:cNvPr id="7" name="Picture 6">
            <a:extLst>
              <a:ext uri="{FF2B5EF4-FFF2-40B4-BE49-F238E27FC236}">
                <a16:creationId xmlns:a16="http://schemas.microsoft.com/office/drawing/2014/main" id="{2C2B5A93-5155-47B8-9294-FA8686D7E8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09800" y="2938581"/>
            <a:ext cx="6019800" cy="4334910"/>
          </a:xfrm>
          <a:prstGeom prst="rect">
            <a:avLst/>
          </a:prstGeom>
        </p:spPr>
      </p:pic>
    </p:spTree>
    <p:extLst>
      <p:ext uri="{BB962C8B-B14F-4D97-AF65-F5344CB8AC3E}">
        <p14:creationId xmlns:p14="http://schemas.microsoft.com/office/powerpoint/2010/main" val="3316202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Franchise Index </a:t>
            </a:r>
            <a:r>
              <a:rPr lang="en-US" dirty="0" err="1"/>
              <a:t>Backtest</a:t>
            </a:r>
            <a:r>
              <a:rPr lang="en-US" dirty="0"/>
              <a:t> Parameters</a:t>
            </a:r>
          </a:p>
        </p:txBody>
      </p:sp>
      <p:sp>
        <p:nvSpPr>
          <p:cNvPr id="25" name="Oval 24"/>
          <p:cNvSpPr/>
          <p:nvPr/>
        </p:nvSpPr>
        <p:spPr>
          <a:xfrm>
            <a:off x="2320380" y="3608438"/>
            <a:ext cx="803820" cy="80382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F053D568-8178-4357-A52D-66E935D6D01B}"/>
              </a:ext>
            </a:extLst>
          </p:cNvPr>
          <p:cNvSpPr txBox="1"/>
          <p:nvPr/>
        </p:nvSpPr>
        <p:spPr>
          <a:xfrm>
            <a:off x="685800" y="1600200"/>
            <a:ext cx="8763000" cy="4985980"/>
          </a:xfrm>
          <a:prstGeom prst="rect">
            <a:avLst/>
          </a:prstGeom>
          <a:noFill/>
        </p:spPr>
        <p:txBody>
          <a:bodyPr wrap="square" rtlCol="0">
            <a:spAutoFit/>
          </a:bodyPr>
          <a:lstStyle/>
          <a:p>
            <a:pPr marL="285750" indent="-285750">
              <a:buFont typeface="Arial" panose="020B0604020202020204" pitchFamily="34" charset="0"/>
              <a:buChar char="•"/>
            </a:pPr>
            <a:r>
              <a:rPr lang="en-US" dirty="0"/>
              <a:t>7 Year </a:t>
            </a:r>
            <a:r>
              <a:rPr lang="en-US" dirty="0" err="1"/>
              <a:t>Backtest</a:t>
            </a:r>
            <a:r>
              <a:rPr lang="en-US" dirty="0"/>
              <a:t> Period</a:t>
            </a:r>
          </a:p>
          <a:p>
            <a:pPr marL="285750" indent="-285750">
              <a:buFont typeface="Arial" panose="020B0604020202020204" pitchFamily="34" charset="0"/>
              <a:buChar char="•"/>
            </a:pPr>
            <a:r>
              <a:rPr lang="en-US" dirty="0"/>
              <a:t>Semi-Annual Rebalance</a:t>
            </a:r>
          </a:p>
          <a:p>
            <a:pPr marL="285750" indent="-285750">
              <a:buFont typeface="Arial" panose="020B0604020202020204" pitchFamily="34" charset="0"/>
              <a:buChar char="•"/>
            </a:pPr>
            <a:r>
              <a:rPr lang="en-US" dirty="0"/>
              <a:t>Rules Based Fundamentally Weighted</a:t>
            </a:r>
          </a:p>
          <a:p>
            <a:pPr marL="285750" indent="-285750">
              <a:buFont typeface="Arial" panose="020B0604020202020204" pitchFamily="34" charset="0"/>
              <a:buChar char="•"/>
            </a:pPr>
            <a:r>
              <a:rPr lang="en-US" dirty="0"/>
              <a:t>Weighting Factor: ROIC/WACC Ratio</a:t>
            </a:r>
          </a:p>
          <a:p>
            <a:pPr marL="285750" indent="-285750">
              <a:buFont typeface="Arial" panose="020B0604020202020204" pitchFamily="34" charset="0"/>
              <a:buChar char="•"/>
            </a:pPr>
            <a:endParaRPr lang="en-US" dirty="0"/>
          </a:p>
          <a:p>
            <a:r>
              <a:rPr lang="en-US" sz="1400" b="1" dirty="0"/>
              <a:t>ROIC/WACC Ratio</a:t>
            </a:r>
            <a:r>
              <a:rPr lang="en-US" sz="1400" dirty="0"/>
              <a:t> - WACC Return on Invested Capital (VM013, WACC_RETURN_ON_INV_CAPITAL) divided by Weighted Average Cost of Capital (VM011, WACC).</a:t>
            </a:r>
          </a:p>
          <a:p>
            <a:endParaRPr lang="en-US" sz="1400" dirty="0"/>
          </a:p>
          <a:p>
            <a:r>
              <a:rPr lang="en-US" sz="1400" dirty="0"/>
              <a:t>WACC Return on Invested Capital = Net Operating Profit after Tax (VM027, WACC_NOPAT) / Total Invested Capital (VM031, WACC_TOTAL_INV_CAPITAL)</a:t>
            </a:r>
          </a:p>
          <a:p>
            <a:endParaRPr lang="en-US" sz="1400" dirty="0"/>
          </a:p>
          <a:p>
            <a:r>
              <a:rPr lang="en-US" sz="1400" dirty="0"/>
              <a:t>WACC = [KD * (TD / V)] + [KP * (P / V)] + [KE * (E / V)]</a:t>
            </a:r>
          </a:p>
          <a:p>
            <a:endParaRPr lang="en-US" sz="1400" dirty="0"/>
          </a:p>
          <a:p>
            <a:r>
              <a:rPr lang="en-US" sz="1400" dirty="0"/>
              <a:t>KD = Cost of Debt (VM010, WACC_COST_DEBT)</a:t>
            </a:r>
          </a:p>
          <a:p>
            <a:r>
              <a:rPr lang="en-US" sz="1400" dirty="0"/>
              <a:t>TD = Total Debt (RR251, SHORT_AND_LONG_TERM_DEBT)</a:t>
            </a:r>
          </a:p>
          <a:p>
            <a:r>
              <a:rPr lang="en-US" sz="1400" dirty="0"/>
              <a:t>V = Total Capital</a:t>
            </a:r>
          </a:p>
          <a:p>
            <a:r>
              <a:rPr lang="en-US" sz="1400" dirty="0"/>
              <a:t>KP = Cost of Preferred (VM009, WACC_COST_PFD)</a:t>
            </a:r>
          </a:p>
          <a:p>
            <a:r>
              <a:rPr lang="en-US" sz="1400" dirty="0"/>
              <a:t>P = Preferred Equity (BS061, BS_PFD_EQY)</a:t>
            </a:r>
          </a:p>
          <a:p>
            <a:r>
              <a:rPr lang="en-US" sz="1400" dirty="0"/>
              <a:t>KE = Cost of Equity (VM008, WACC_COST_EQUITY)</a:t>
            </a:r>
          </a:p>
          <a:p>
            <a:r>
              <a:rPr lang="en-US" sz="1400" dirty="0"/>
              <a:t>E = Equity Capital (RR902, CUR_MKT_CAP)</a:t>
            </a:r>
            <a:endParaRPr lang="en-US" dirty="0"/>
          </a:p>
          <a:p>
            <a:endParaRPr lang="en-US" dirty="0"/>
          </a:p>
        </p:txBody>
      </p:sp>
    </p:spTree>
    <p:extLst>
      <p:ext uri="{BB962C8B-B14F-4D97-AF65-F5344CB8AC3E}">
        <p14:creationId xmlns:p14="http://schemas.microsoft.com/office/powerpoint/2010/main" val="826366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Franchise Index </a:t>
            </a:r>
            <a:r>
              <a:rPr lang="en-US" dirty="0" err="1"/>
              <a:t>Backtest</a:t>
            </a:r>
            <a:r>
              <a:rPr lang="en-US" dirty="0"/>
              <a:t> Results</a:t>
            </a:r>
          </a:p>
        </p:txBody>
      </p:sp>
      <p:sp>
        <p:nvSpPr>
          <p:cNvPr id="25" name="Oval 24"/>
          <p:cNvSpPr/>
          <p:nvPr/>
        </p:nvSpPr>
        <p:spPr>
          <a:xfrm>
            <a:off x="2320380" y="3608438"/>
            <a:ext cx="803820" cy="80382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F053D568-8178-4357-A52D-66E935D6D01B}"/>
              </a:ext>
            </a:extLst>
          </p:cNvPr>
          <p:cNvSpPr txBox="1"/>
          <p:nvPr/>
        </p:nvSpPr>
        <p:spPr>
          <a:xfrm>
            <a:off x="685800" y="1600200"/>
            <a:ext cx="8763000" cy="2862322"/>
          </a:xfrm>
          <a:prstGeom prst="rect">
            <a:avLst/>
          </a:prstGeom>
          <a:noFill/>
        </p:spPr>
        <p:txBody>
          <a:bodyPr wrap="square" rtlCol="0">
            <a:spAutoFit/>
          </a:bodyPr>
          <a:lstStyle/>
          <a:p>
            <a:pPr marL="285750" indent="-285750">
              <a:buFont typeface="Arial" panose="020B0604020202020204" pitchFamily="34" charset="0"/>
              <a:buChar char="•"/>
            </a:pPr>
            <a:r>
              <a:rPr lang="en-US" dirty="0"/>
              <a:t>7 Year </a:t>
            </a:r>
            <a:r>
              <a:rPr lang="en-US" dirty="0" err="1"/>
              <a:t>Backtest</a:t>
            </a:r>
            <a:r>
              <a:rPr lang="en-US" dirty="0"/>
              <a:t> Period</a:t>
            </a:r>
          </a:p>
          <a:p>
            <a:pPr marL="285750" indent="-285750">
              <a:buFont typeface="Arial" panose="020B0604020202020204" pitchFamily="34" charset="0"/>
              <a:buChar char="•"/>
            </a:pPr>
            <a:r>
              <a:rPr lang="en-US" dirty="0"/>
              <a:t>Semi-Annual Rebalance</a:t>
            </a:r>
          </a:p>
          <a:p>
            <a:pPr marL="285750" indent="-285750">
              <a:buFont typeface="Arial" panose="020B0604020202020204" pitchFamily="34" charset="0"/>
              <a:buChar char="•"/>
            </a:pPr>
            <a:r>
              <a:rPr lang="en-US" dirty="0"/>
              <a:t>Rules Based Fundamentally Weighted</a:t>
            </a:r>
          </a:p>
          <a:p>
            <a:pPr marL="285750" indent="-285750">
              <a:buFont typeface="Arial" panose="020B0604020202020204" pitchFamily="34" charset="0"/>
              <a:buChar char="•"/>
            </a:pPr>
            <a:r>
              <a:rPr lang="en-US" dirty="0"/>
              <a:t>Weighting Factor: ROIC/WACC Ratio</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endParaRPr lang="en-US" dirty="0"/>
          </a:p>
          <a:p>
            <a:endParaRPr lang="en-US" dirty="0"/>
          </a:p>
          <a:p>
            <a:endParaRPr lang="en-US" dirty="0"/>
          </a:p>
        </p:txBody>
      </p:sp>
      <p:pic>
        <p:nvPicPr>
          <p:cNvPr id="6" name="Picture 5">
            <a:extLst>
              <a:ext uri="{FF2B5EF4-FFF2-40B4-BE49-F238E27FC236}">
                <a16:creationId xmlns:a16="http://schemas.microsoft.com/office/drawing/2014/main" id="{0AE0E673-254B-428A-8782-DEDEB8D9E0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95500" y="2958962"/>
            <a:ext cx="5943600" cy="4280038"/>
          </a:xfrm>
          <a:prstGeom prst="rect">
            <a:avLst/>
          </a:prstGeom>
        </p:spPr>
      </p:pic>
    </p:spTree>
    <p:extLst>
      <p:ext uri="{BB962C8B-B14F-4D97-AF65-F5344CB8AC3E}">
        <p14:creationId xmlns:p14="http://schemas.microsoft.com/office/powerpoint/2010/main" val="15520318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Franchise Index </a:t>
            </a:r>
            <a:r>
              <a:rPr lang="en-US" dirty="0" err="1"/>
              <a:t>Backtest</a:t>
            </a:r>
            <a:r>
              <a:rPr lang="en-US" dirty="0"/>
              <a:t> Results</a:t>
            </a:r>
          </a:p>
        </p:txBody>
      </p:sp>
      <p:sp>
        <p:nvSpPr>
          <p:cNvPr id="25" name="Oval 24"/>
          <p:cNvSpPr/>
          <p:nvPr/>
        </p:nvSpPr>
        <p:spPr>
          <a:xfrm>
            <a:off x="2320380" y="3608438"/>
            <a:ext cx="803820" cy="80382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F053D568-8178-4357-A52D-66E935D6D01B}"/>
              </a:ext>
            </a:extLst>
          </p:cNvPr>
          <p:cNvSpPr txBox="1"/>
          <p:nvPr/>
        </p:nvSpPr>
        <p:spPr>
          <a:xfrm>
            <a:off x="685800" y="1600200"/>
            <a:ext cx="8763000" cy="2862322"/>
          </a:xfrm>
          <a:prstGeom prst="rect">
            <a:avLst/>
          </a:prstGeom>
          <a:noFill/>
        </p:spPr>
        <p:txBody>
          <a:bodyPr wrap="square" rtlCol="0">
            <a:spAutoFit/>
          </a:bodyPr>
          <a:lstStyle/>
          <a:p>
            <a:pPr marL="285750" indent="-285750">
              <a:buFont typeface="Arial" panose="020B0604020202020204" pitchFamily="34" charset="0"/>
              <a:buChar char="•"/>
            </a:pPr>
            <a:r>
              <a:rPr lang="en-US" dirty="0"/>
              <a:t>7 Year </a:t>
            </a:r>
            <a:r>
              <a:rPr lang="en-US" dirty="0" err="1"/>
              <a:t>Backtest</a:t>
            </a:r>
            <a:r>
              <a:rPr lang="en-US" dirty="0"/>
              <a:t> Period</a:t>
            </a:r>
          </a:p>
          <a:p>
            <a:pPr marL="285750" indent="-285750">
              <a:buFont typeface="Arial" panose="020B0604020202020204" pitchFamily="34" charset="0"/>
              <a:buChar char="•"/>
            </a:pPr>
            <a:r>
              <a:rPr lang="en-US" dirty="0"/>
              <a:t>Semi-Annual Rebalance</a:t>
            </a:r>
          </a:p>
          <a:p>
            <a:pPr marL="285750" indent="-285750">
              <a:buFont typeface="Arial" panose="020B0604020202020204" pitchFamily="34" charset="0"/>
              <a:buChar char="•"/>
            </a:pPr>
            <a:r>
              <a:rPr lang="en-US" dirty="0"/>
              <a:t>Weighting Factor: EBITDA Margin</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endParaRPr lang="en-US" dirty="0"/>
          </a:p>
          <a:p>
            <a:endParaRPr lang="en-US" dirty="0"/>
          </a:p>
          <a:p>
            <a:endParaRPr lang="en-US" dirty="0"/>
          </a:p>
        </p:txBody>
      </p:sp>
      <p:pic>
        <p:nvPicPr>
          <p:cNvPr id="8" name="Picture 7">
            <a:extLst>
              <a:ext uri="{FF2B5EF4-FFF2-40B4-BE49-F238E27FC236}">
                <a16:creationId xmlns:a16="http://schemas.microsoft.com/office/drawing/2014/main" id="{D4FB4F86-9AF0-48E9-B682-D755538B8A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05942" y="2667000"/>
            <a:ext cx="5867400" cy="4225166"/>
          </a:xfrm>
          <a:prstGeom prst="rect">
            <a:avLst/>
          </a:prstGeom>
        </p:spPr>
      </p:pic>
    </p:spTree>
    <p:extLst>
      <p:ext uri="{BB962C8B-B14F-4D97-AF65-F5344CB8AC3E}">
        <p14:creationId xmlns:p14="http://schemas.microsoft.com/office/powerpoint/2010/main" val="41740566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Franchise Index </a:t>
            </a:r>
            <a:r>
              <a:rPr lang="en-US" dirty="0" err="1"/>
              <a:t>Backtest</a:t>
            </a:r>
            <a:r>
              <a:rPr lang="en-US" dirty="0"/>
              <a:t> Results</a:t>
            </a:r>
          </a:p>
        </p:txBody>
      </p:sp>
      <p:sp>
        <p:nvSpPr>
          <p:cNvPr id="25" name="Oval 24"/>
          <p:cNvSpPr/>
          <p:nvPr/>
        </p:nvSpPr>
        <p:spPr>
          <a:xfrm>
            <a:off x="2320380" y="3608438"/>
            <a:ext cx="803820" cy="80382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F053D568-8178-4357-A52D-66E935D6D01B}"/>
              </a:ext>
            </a:extLst>
          </p:cNvPr>
          <p:cNvSpPr txBox="1"/>
          <p:nvPr/>
        </p:nvSpPr>
        <p:spPr>
          <a:xfrm>
            <a:off x="685800" y="1600200"/>
            <a:ext cx="8763000" cy="2585323"/>
          </a:xfrm>
          <a:prstGeom prst="rect">
            <a:avLst/>
          </a:prstGeom>
          <a:noFill/>
        </p:spPr>
        <p:txBody>
          <a:bodyPr wrap="square" rtlCol="0">
            <a:spAutoFit/>
          </a:bodyPr>
          <a:lstStyle/>
          <a:p>
            <a:pPr marL="285750" indent="-285750">
              <a:buFont typeface="Arial" panose="020B0604020202020204" pitchFamily="34" charset="0"/>
              <a:buChar char="•"/>
            </a:pPr>
            <a:r>
              <a:rPr lang="en-US" dirty="0"/>
              <a:t>7 Year </a:t>
            </a:r>
            <a:r>
              <a:rPr lang="en-US" dirty="0" err="1"/>
              <a:t>Backtest</a:t>
            </a:r>
            <a:r>
              <a:rPr lang="en-US" dirty="0"/>
              <a:t> Period</a:t>
            </a:r>
          </a:p>
          <a:p>
            <a:pPr marL="285750" indent="-285750">
              <a:buFont typeface="Arial" panose="020B0604020202020204" pitchFamily="34" charset="0"/>
              <a:buChar char="•"/>
            </a:pPr>
            <a:r>
              <a:rPr lang="en-US" dirty="0"/>
              <a:t>Semi-Annual Rebalance</a:t>
            </a:r>
          </a:p>
          <a:p>
            <a:pPr marL="285750" indent="-285750">
              <a:buFont typeface="Arial" panose="020B0604020202020204" pitchFamily="34" charset="0"/>
              <a:buChar char="•"/>
            </a:pPr>
            <a:r>
              <a:rPr lang="en-US" dirty="0"/>
              <a:t>Equal Weighted</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endParaRPr lang="en-US" dirty="0"/>
          </a:p>
          <a:p>
            <a:endParaRPr lang="en-US" dirty="0"/>
          </a:p>
          <a:p>
            <a:endParaRPr lang="en-US" dirty="0"/>
          </a:p>
        </p:txBody>
      </p:sp>
      <p:pic>
        <p:nvPicPr>
          <p:cNvPr id="4" name="Picture 3">
            <a:extLst>
              <a:ext uri="{FF2B5EF4-FFF2-40B4-BE49-F238E27FC236}">
                <a16:creationId xmlns:a16="http://schemas.microsoft.com/office/drawing/2014/main" id="{D163177A-FD42-4974-8E11-989A2AF888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09800" y="2667000"/>
            <a:ext cx="6044817" cy="4352925"/>
          </a:xfrm>
          <a:prstGeom prst="rect">
            <a:avLst/>
          </a:prstGeom>
        </p:spPr>
      </p:pic>
    </p:spTree>
    <p:extLst>
      <p:ext uri="{BB962C8B-B14F-4D97-AF65-F5344CB8AC3E}">
        <p14:creationId xmlns:p14="http://schemas.microsoft.com/office/powerpoint/2010/main" val="29913519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Franchise Index </a:t>
            </a:r>
            <a:r>
              <a:rPr lang="en-US" dirty="0" err="1"/>
              <a:t>Backtest</a:t>
            </a:r>
            <a:r>
              <a:rPr lang="en-US" dirty="0"/>
              <a:t> Results</a:t>
            </a:r>
          </a:p>
        </p:txBody>
      </p:sp>
      <p:sp>
        <p:nvSpPr>
          <p:cNvPr id="25" name="Oval 24"/>
          <p:cNvSpPr/>
          <p:nvPr/>
        </p:nvSpPr>
        <p:spPr>
          <a:xfrm>
            <a:off x="2320380" y="3608438"/>
            <a:ext cx="803820" cy="80382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F053D568-8178-4357-A52D-66E935D6D01B}"/>
              </a:ext>
            </a:extLst>
          </p:cNvPr>
          <p:cNvSpPr txBox="1"/>
          <p:nvPr/>
        </p:nvSpPr>
        <p:spPr>
          <a:xfrm>
            <a:off x="685800" y="1600200"/>
            <a:ext cx="8763000" cy="2585323"/>
          </a:xfrm>
          <a:prstGeom prst="rect">
            <a:avLst/>
          </a:prstGeom>
          <a:noFill/>
        </p:spPr>
        <p:txBody>
          <a:bodyPr wrap="square" rtlCol="0">
            <a:spAutoFit/>
          </a:bodyPr>
          <a:lstStyle/>
          <a:p>
            <a:pPr marL="285750" indent="-285750">
              <a:buFont typeface="Arial" panose="020B0604020202020204" pitchFamily="34" charset="0"/>
              <a:buChar char="•"/>
            </a:pPr>
            <a:r>
              <a:rPr lang="en-US" dirty="0"/>
              <a:t>7 Year </a:t>
            </a:r>
            <a:r>
              <a:rPr lang="en-US" dirty="0" err="1"/>
              <a:t>Backtest</a:t>
            </a:r>
            <a:r>
              <a:rPr lang="en-US" dirty="0"/>
              <a:t> Period</a:t>
            </a:r>
          </a:p>
          <a:p>
            <a:pPr marL="285750" indent="-285750">
              <a:buFont typeface="Arial" panose="020B0604020202020204" pitchFamily="34" charset="0"/>
              <a:buChar char="•"/>
            </a:pPr>
            <a:r>
              <a:rPr lang="en-US" dirty="0"/>
              <a:t>Semi-Annual Rebalance</a:t>
            </a:r>
          </a:p>
          <a:p>
            <a:pPr marL="285750" indent="-285750">
              <a:buFont typeface="Arial" panose="020B0604020202020204" pitchFamily="34" charset="0"/>
              <a:buChar char="•"/>
            </a:pPr>
            <a:r>
              <a:rPr lang="en-US" dirty="0"/>
              <a:t>Cap Weighted</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endParaRPr lang="en-US" dirty="0"/>
          </a:p>
          <a:p>
            <a:endParaRPr lang="en-US" dirty="0"/>
          </a:p>
          <a:p>
            <a:endParaRPr lang="en-US" dirty="0"/>
          </a:p>
        </p:txBody>
      </p:sp>
      <p:pic>
        <p:nvPicPr>
          <p:cNvPr id="6" name="Picture 5">
            <a:extLst>
              <a:ext uri="{FF2B5EF4-FFF2-40B4-BE49-F238E27FC236}">
                <a16:creationId xmlns:a16="http://schemas.microsoft.com/office/drawing/2014/main" id="{169B5607-B494-4F34-9AEB-126EDDA63F4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09800" y="2642268"/>
            <a:ext cx="5715000" cy="4115421"/>
          </a:xfrm>
          <a:prstGeom prst="rect">
            <a:avLst/>
          </a:prstGeom>
        </p:spPr>
      </p:pic>
    </p:spTree>
    <p:extLst>
      <p:ext uri="{BB962C8B-B14F-4D97-AF65-F5344CB8AC3E}">
        <p14:creationId xmlns:p14="http://schemas.microsoft.com/office/powerpoint/2010/main" val="40923297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Franchise Index </a:t>
            </a:r>
            <a:r>
              <a:rPr lang="en-US" dirty="0" err="1"/>
              <a:t>Backtest</a:t>
            </a:r>
            <a:r>
              <a:rPr lang="en-US" dirty="0"/>
              <a:t> Results</a:t>
            </a:r>
          </a:p>
        </p:txBody>
      </p:sp>
      <p:sp>
        <p:nvSpPr>
          <p:cNvPr id="25" name="Oval 24"/>
          <p:cNvSpPr/>
          <p:nvPr/>
        </p:nvSpPr>
        <p:spPr>
          <a:xfrm>
            <a:off x="2320380" y="3608438"/>
            <a:ext cx="803820" cy="80382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F053D568-8178-4357-A52D-66E935D6D01B}"/>
              </a:ext>
            </a:extLst>
          </p:cNvPr>
          <p:cNvSpPr txBox="1"/>
          <p:nvPr/>
        </p:nvSpPr>
        <p:spPr>
          <a:xfrm>
            <a:off x="685800" y="1600200"/>
            <a:ext cx="8763000" cy="2585323"/>
          </a:xfrm>
          <a:prstGeom prst="rect">
            <a:avLst/>
          </a:prstGeom>
          <a:noFill/>
        </p:spPr>
        <p:txBody>
          <a:bodyPr wrap="square" rtlCol="0">
            <a:spAutoFit/>
          </a:bodyPr>
          <a:lstStyle/>
          <a:p>
            <a:pPr marL="285750" indent="-285750">
              <a:buFont typeface="Arial" panose="020B0604020202020204" pitchFamily="34" charset="0"/>
              <a:buChar char="•"/>
            </a:pPr>
            <a:r>
              <a:rPr lang="en-US" dirty="0"/>
              <a:t>7 Year </a:t>
            </a:r>
            <a:r>
              <a:rPr lang="en-US" dirty="0" err="1"/>
              <a:t>Backtest</a:t>
            </a:r>
            <a:r>
              <a:rPr lang="en-US" dirty="0"/>
              <a:t> Period</a:t>
            </a:r>
          </a:p>
          <a:p>
            <a:pPr marL="285750" indent="-285750">
              <a:buFont typeface="Arial" panose="020B0604020202020204" pitchFamily="34" charset="0"/>
              <a:buChar char="•"/>
            </a:pPr>
            <a:r>
              <a:rPr lang="en-US" dirty="0"/>
              <a:t>Semi-Annual Rebalance</a:t>
            </a:r>
          </a:p>
          <a:p>
            <a:pPr marL="285750" indent="-285750">
              <a:buFont typeface="Arial" panose="020B0604020202020204" pitchFamily="34" charset="0"/>
              <a:buChar char="•"/>
            </a:pPr>
            <a:r>
              <a:rPr lang="en-US" dirty="0"/>
              <a:t>Optimized Risk/Reward</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endParaRPr lang="en-US" dirty="0"/>
          </a:p>
          <a:p>
            <a:endParaRPr lang="en-US" dirty="0"/>
          </a:p>
          <a:p>
            <a:endParaRPr lang="en-US" dirty="0"/>
          </a:p>
        </p:txBody>
      </p:sp>
      <p:pic>
        <p:nvPicPr>
          <p:cNvPr id="4" name="Picture 3">
            <a:extLst>
              <a:ext uri="{FF2B5EF4-FFF2-40B4-BE49-F238E27FC236}">
                <a16:creationId xmlns:a16="http://schemas.microsoft.com/office/drawing/2014/main" id="{91CE2D0D-2223-4224-9352-CFEC3CFAE2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20380" y="2743200"/>
            <a:ext cx="6019800" cy="4334910"/>
          </a:xfrm>
          <a:prstGeom prst="rect">
            <a:avLst/>
          </a:prstGeom>
        </p:spPr>
      </p:pic>
    </p:spTree>
    <p:extLst>
      <p:ext uri="{BB962C8B-B14F-4D97-AF65-F5344CB8AC3E}">
        <p14:creationId xmlns:p14="http://schemas.microsoft.com/office/powerpoint/2010/main" val="212694918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DATAFOLDER" val="Z:\MarketingMaterials\Pitchbook\00_WorkingVersions\"/>
  <p:tag name="DATAFILE" val="LyonsSalesTeamPPT.xlsx"/>
  <p:tag name="WORKSHEETINDEX" val="0"/>
  <p:tag name="ROTATEDATA" val="NO"/>
  <p:tag name="OUTPUTFOLDER" val="C:\Users\Neil\Desktop\"/>
  <p:tag name="MERGEMODE" val="PRESENTATIONS"/>
  <p:tag name="LASTMERGEFILE" val="Z:\MarketingMaterials\Pitchbook\00_WorkingVersions\LyonsSalesTeamPPT.xlsx"/>
  <p:tag name="LASTSAVETOFOLDER" val="C:\Users\Neil\Desktop\"/>
  <p:tag name="THINKCELLUNDODONOTDELETE" val="5"/>
</p:tagLst>
</file>

<file path=ppt/theme/theme1.xml><?xml version="1.0" encoding="utf-8"?>
<a:theme xmlns:a="http://schemas.openxmlformats.org/drawingml/2006/main" name="Office Theme">
  <a:themeElements>
    <a:clrScheme name="EQM Capital Colors">
      <a:dk1>
        <a:sysClr val="windowText" lastClr="000000"/>
      </a:dk1>
      <a:lt1>
        <a:sysClr val="window" lastClr="FFFFFF"/>
      </a:lt1>
      <a:dk2>
        <a:srgbClr val="1F497D"/>
      </a:dk2>
      <a:lt2>
        <a:srgbClr val="FFFFFF"/>
      </a:lt2>
      <a:accent1>
        <a:srgbClr val="1F497D"/>
      </a:accent1>
      <a:accent2>
        <a:srgbClr val="C7940D"/>
      </a:accent2>
      <a:accent3>
        <a:srgbClr val="B35408"/>
      </a:accent3>
      <a:accent4>
        <a:srgbClr val="648233"/>
      </a:accent4>
      <a:accent5>
        <a:srgbClr val="708C85"/>
      </a:accent5>
      <a:accent6>
        <a:srgbClr val="968A0A"/>
      </a:accent6>
      <a:hlink>
        <a:srgbClr val="9EB3BE"/>
      </a:hlink>
      <a:folHlink>
        <a:srgbClr val="814D38"/>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31793</TotalTime>
  <Words>607</Words>
  <Application>Microsoft Office PowerPoint</Application>
  <PresentationFormat>Custom</PresentationFormat>
  <Paragraphs>154</Paragraphs>
  <Slides>10</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10</vt:i4>
      </vt:variant>
    </vt:vector>
  </HeadingPairs>
  <TitlesOfParts>
    <vt:vector size="19" baseType="lpstr">
      <vt:lpstr>Malgun Gothic</vt:lpstr>
      <vt:lpstr>Arial</vt:lpstr>
      <vt:lpstr>Arial Narrow</vt:lpstr>
      <vt:lpstr>Calibri</vt:lpstr>
      <vt:lpstr>Courier New</vt:lpstr>
      <vt:lpstr>Gill Sans MT</vt:lpstr>
      <vt:lpstr>Myriad Pro</vt:lpstr>
      <vt:lpstr>Wingdings</vt:lpstr>
      <vt:lpstr>Office Theme</vt:lpstr>
      <vt:lpstr> Franchise Index Research Summary                </vt:lpstr>
      <vt:lpstr>Franchise Index Screen</vt:lpstr>
      <vt:lpstr>Franchise Index Backtest Parameters</vt:lpstr>
      <vt:lpstr>Franchise Index Backtest Results</vt:lpstr>
      <vt:lpstr>Franchise Index Backtest Parameters</vt:lpstr>
      <vt:lpstr>Franchise Index Backtest Results</vt:lpstr>
      <vt:lpstr>Franchise Index Backtest Results</vt:lpstr>
      <vt:lpstr>Franchise Index Backtest Results</vt:lpstr>
      <vt:lpstr>Franchise Index Backtest Results</vt:lpstr>
      <vt:lpstr>Franchise Index Backtest Results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Rick</dc:creator>
  <cp:lastModifiedBy>Owner</cp:lastModifiedBy>
  <cp:revision>1648</cp:revision>
  <cp:lastPrinted>2016-03-15T14:12:24Z</cp:lastPrinted>
  <dcterms:created xsi:type="dcterms:W3CDTF">2009-11-10T01:12:45Z</dcterms:created>
  <dcterms:modified xsi:type="dcterms:W3CDTF">2018-02-13T19:33:07Z</dcterms:modified>
</cp:coreProperties>
</file>